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notesRepairTheme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NotesMasterRepair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NotesMasterRepair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notesRepairTheme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7.xml"/>
</Relationships>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8.xml"/>
</Relationships>
</file>

<file path=ppt/notesSlides/_rels/notesSlide4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9.xml"/>
</Relationships>
</file>

<file path=ppt/notesSlides/_rels/notesSlide5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0.xml"/>
</Relationships>
</file>

<file path=ppt/notesSlides/_rels/notesSlide5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1.xml"/>
</Relationships>
</file>

<file path=ppt/notesSlides/_rels/notesSlide5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2.xml"/>
</Relationships>
</file>

<file path=ppt/notesSlides/_rels/notesSlide5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3.xml"/>
</Relationships>
</file>

<file path=ppt/notesSlides/_rels/notesSlide5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4.xml"/>
</Relationships>
</file>

<file path=ppt/notesSlides/_rels/notesSlide5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5.xml"/>
</Relationships>
</file>

<file path=ppt/notesSlides/_rels/notesSlide5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6.xml"/>
</Relationships>
</file>

<file path=ppt/notesSlides/_rels/notesSlide5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7.xml"/>
</Relationships>
</file>

<file path=ppt/notesSlides/_rels/notesSlide5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8.xml"/>
</Relationships>
</file>

<file path=ppt/notesSlides/_rels/notesSlide5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9.xml"/>
</Relationships>
</file>

<file path=ppt/notesSlides/_rels/notesSlide6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0.xml"/>
</Relationships>
</file>

<file path=ppt/notesSlides/_rels/notesSlide6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1.xml"/>
</Relationships>
</file>

<file path=ppt/notesSlides/_rels/notesSlide6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2.xml"/>
</Relationships>
</file>

<file path=ppt/notesSlides/_rels/notesSlide6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3.xml"/>
</Relationships>
</file>

<file path=ppt/notesSlides/_rels/notesSlide6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4.xml"/>
</Relationships>
</file>

<file path=ppt/notesSlides/_rels/notesSlide6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5.xml"/>
</Relationships>
</file>

<file path=ppt/notesSlides/_rels/notesSlide6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6.xml"/>
</Relationships>
</file>

<file path=ppt/notesSlides/_rels/notesSlide6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7.xml"/>
</Relationships>
</file>

<file path=ppt/notesSlides/_rels/notesSlide6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8.xml"/>
</Relationships>
</file>

<file path=ppt/notesSlides/_rels/notesSlide6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9.xml"/>
</Relationships>
</file>

<file path=ppt/notesSlides/_rels/notesSlide7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0.xml"/>
</Relationships>
</file>

<file path=ppt/notesSlides/_rels/notesSlide7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1.xml"/>
</Relationships>
</file>

<file path=ppt/notesSlides/_rels/notesSlide7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2.xml"/>
</Relationships>
</file>

<file path=ppt/notesSlides/_rels/notesSlide7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3.xml"/>
</Relationships>
</file>

<file path=ppt/notesSlides/_rels/notesSlide7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4.xml"/>
</Relationships>
</file>

<file path=ppt/notesSlides/_rels/notesSlide7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5.xml"/>
</Relationships>
</file>

<file path=ppt/notesSlides/_rels/notesSlide7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6.xml"/>
</Relationships>
</file>

<file path=ppt/notesSlides/_rels/notesSlide7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7.xml"/>
</Relationships>
</file>

<file path=ppt/notesSlides/_rels/notesSlide7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8.xml"/>
</Relationships>
</file>

<file path=ppt/notesSlides/_rels/notesSlide7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9.xml"/>
</Relationships>
</file>

<file path=ppt/notesSlides/_rels/notesSlide8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各位专家好，我是魏叶云，汇报题目是《高应变率下钢框架梁柱节点力学性能研究》。下面按照原稿的七章安排，汇报材料模型、节点试验、动力响应机理和实用计算方法。</a:t>
            </a:r>
          </a:p>
          <a:p>
            <a:endParaRPr lang="zh-CN" dirty="0"/>
          </a:p>
          <a:p>
            <a:r>
              <a:rPr lang="zh-CN" dirty="0"/>
              <a:t>来源与核对：原答辩稿PDF第1页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这一部分保持原稿的研究安排。汇报共分七章，依次介绍绪论、材料强化模型、动态断裂模型、节点动力试验、响应机理、承载力计算及结论展望。</a:t>
            </a:r>
          </a:p>
          <a:p>
            <a:endParaRPr lang="zh-CN" dirty="0"/>
          </a:p>
          <a:p>
            <a:r>
              <a:rPr lang="zh-CN" dirty="0"/>
              <a:t>来源与核对：原答辩稿PDF第2页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这一部分保持原稿的研究安排。先介绍研究背景、现有工作的不足及研究路线。</a:t>
            </a:r>
          </a:p>
          <a:p>
            <a:endParaRPr lang="zh-CN" dirty="0"/>
          </a:p>
          <a:p>
            <a:r>
              <a:rPr lang="zh-CN" dirty="0"/>
              <a:t>来源与核对：原答辩稿PDF第3页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背景。请先看图中的试验对象、比较工况与坐标定义，再结合曲线变化或局部破坏位置判断结果。爆炸与冲击作用下，钢材的速率效应与节点的瞬态响应共同影响结构安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本页重点说明研究背景。请先看图中的试验对象、比较工况与坐标定义，再结合曲线变化或局部破坏位置判断结果。节点抗冲击性能需要同时考虑材料应变率效应和结构惯性作用。 原稿对应证据包括：节点：动力效应（材料应变率效应+结构惯性效应）。讲述时突出主要比较结果，区分本页观察与后续模型推论。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宽应变率范围与多应力状态试验，是建立节点动力材料输入的基础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现有本构模型难以统一描述强化幅度随塑性应变发展的变化规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动态断裂预测应同时描述应力状态、应变率及二者的耦合作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节点冲击试验需要明确边界约束，避免将不同受力机制直接比较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数值分析应在材料、响应时程和破坏模式三个层面完成验证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组件理论为承载力简化提供基础，动力强化和模式迁移仍需修正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本页重点说明研究路线与研究内容。请先看图中的试验对象、比较工况与坐标定义，再结合曲线变化或局部破坏位置判断结果。按照材料模型、节点试验、动力机理和实用计算的顺序，形成逐层验证的研究路线。 原稿对应证据包括：应变和应力状态的耦合效应考虑不足，且缺乏微；加载速率有限；动态响应机理尚不明晰；动力抗；建立Q355钢耦合动态本构与断裂模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这一部分保持原稿的研究安排。下面进入2章，结合前面结果，说明本章的研究方法、关键证据与主要结论。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来源与核对：原答辩稿PDF第13页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。请先看图中的试验对象、比较工况与坐标定义，再结合曲线变化或局部破坏位置判断结果。多设备协同覆盖准静力到高速加载范围，获得Q355钢的全过程动力响应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本页重点说明宏观动力材性试验。请先看图中的试验对象、比较工况与坐标定义，再结合曲线变化或局部破坏位置判断结果。五种目标应变率与六类应力状态共同构成材料试验矩阵。 原稿对应证据包括：6种应力状态：轴对称单轴拉伸(A)、多轴拉伸(B、C)、纯剪切(D)、拉-剪复合(E)、平面应变多轴拉伸(F)。讲述时突出主要比较结果，区分本页观察与后续模型推论。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结果。请先看图中的试验对象、比较工况与坐标定义，再结合曲线变化或局部破坏位置判断结果。材料强度随应变率提高而增大，其强化幅度随变形发展发生变化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本页重点说明微观组织表征方法。请先看图中的试验对象、比较工况与坐标定义，再结合曲线变化或局部破坏位置判断结果。通过SEM与EBSD，将宏观应力–应变响应与微观组织演化对应起来。 原稿对应证据包括：自动金相磨抛机)、抛光(机械抛光；振动抛光，Vibrotech 300振动抛光机)。讲述时突出主要比较结果，区分本页观察与后续模型推论。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本页重点说明塑性变形机制。请先看图中的试验对象、比较工况与坐标定义，再结合曲线变化或局部破坏位置判断结果。位错、晶粒与织构的演化为塑性变形机制分析提供了微观证据。 原稿对应证据包括：多晶体塑性的变形：晶内变形：位错运动（滑移、孪生）；晶间变形：克服晶界阻力（晶粒尺寸）和晶粒间协调变形（滑移系启动）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本页重点说明应变率效应。请先看图中的试验对象、比较工况与坐标定义，再结合曲线变化或局部破坏位置判断结果。宏观强化与微观组织演化相互对应，应变率效应具有明确的材料机制。 原稿对应证据包括：强度的宏观效应：应变率强化效应：应变率增加，强度提高；应变硬化效应：应变增加，强度提高；随应变发展，晶粒尺寸降低；随应变率提高，晶粒尺寸增加，晶粒细化可提高强度；随应变发展和应变率提高，&lt;110&gt;丝织构组分（bcc拉拔织构）增加，提高强度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本页重点说明应变率效应的应变依赖性。请先看图中的试验对象、比较工况与坐标定义，再结合曲线变化或局部破坏位置判断结果。DIF随真应变发展而变化，采用单一常数难以描述全过程强化效应。 原稿对应证据包括：微观效应指标 (χ) 等效于宏观的DIF，且两者的值接近 → 指标χ的可靠性；应变率效应与应变硬化耦合：应变增加，DIF值（宏观）和χ值（微观）减小，即，应变率效应降低。讲述时突出主要比较结果，区分本页观察与后续模型推论。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本页重点说明应变依赖的动力增大系数SD-DIF。请先看图中的试验对象、比较工况与坐标定义，再结合曲线变化或局部破坏位置判断结果。以应变与应变率为共同变量，构造具有应变依赖性的动力增大系数。 原稿对应证据包括：宏观的DIF与微观的χ值均与应变呈指数函数关系；全过程DIF模型：耦合应变率与应变。讲述时突出主要比较结果，区分本页观察与后续模型推论。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本页重点说明应变依赖的动力增大系数SD-DIF。请先看图中的试验对象、比较工况与坐标定义，再结合曲线变化或局部破坏位置判断结果。SD-DIF用三个独立参数描述强化幅度及其随应变发展的衰减规律。 原稿对应证据包括：应变率效应与应变硬化效应耦合：应变率效应（DIF）随塑性应变增加而降低；应变率效应（DIF）与应变呈指数函数关系；SD-DIF模型：耦合应变率与应变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本页重点说明SD-DIF精度验证。请先看图中的试验对象、比较工况与坐标定义，再结合曲线变化或局部破坏位置判断结果。跨材料对比验证表明，SD-DIF能够兼顾屈服、极限和全过程强化的预测。 原稿对应证据包括：对于多种材料：Q235钢、Q355钢、Q460钢、S690钢、S960钢；相比传统非耦合模型：C-S、J-C、Z-A，本模型表现出一致的高拟合精度。讲述时突出主要比较结果，区分本页观察与后续模型推论。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这一部分保持原稿的研究安排。下面进入3章，结合前面结果，说明本章的研究方法、关键证据与主要结论。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来源与核对：原答辩稿PDF第24页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本页重点说明宏观动力材性试验。请先看图中的试验对象、比较工况与坐标定义，再结合曲线变化或局部破坏位置判断结果。不同几何试样形成六类应力状态，为动态断裂模型提供标定与验证数据。 原稿对应证据包括：6种应力状态：轴对称单轴拉伸(A)、多轴拉伸(B、C)、纯剪切(D)、拉-剪复合(E)、平面应变多轴拉伸(F)。讲述时突出主要比较结果，区分本页观察与后续模型推论。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动力试验结果。请先看图中的试验对象、比较工况与坐标定义，再结合曲线变化或局部破坏位置判断结果。拉伸主导与剪切主导状态下，断裂响应呈现不同的应变率依赖规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断裂特性的应变率与应力状态效应。请先看图中的试验对象、比较工况与坐标定义，再结合曲线变化或局部破坏位置判断结果。断裂应变的速率效应受应力状态调节，不能简单采用统一正向强化。 原稿对应证据包括：应变率效应：应变率提高，A, B, C, F：延性增强；；应力状态效应：应力三轴度提高，延性降低；。讲述时突出主要比较结果，区分本页观察与后续模型推论。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本页重点说明微观组织演化的应变率与应力状态效应。请先看图中的试验对象、比较工况与坐标定义，再结合曲线变化或局部破坏位置判断结果。微观组织对应变率和应力状态的响应，为宏观断裂差异提供解释。 原稿对应证据包括：应变率提高，位错密度增加，降低延性；晶粒尺寸增加，增强延性；；A、C的滑移面织构组分增加，增强延性；E的相应组分降低，降低延性；应力三轴度提高，从A到C，位错密度降低，晶粒尺寸增大，织构组分降低，延性降低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本页重点说明应变率与应力状态的耦合效应。请先看图中的试验对象、比较工况与坐标定义，再结合曲线变化或局部破坏位置判断结果。应变率效应的方向与幅度随应力状态变化，需要在模型中显式耦合。 原稿对应证据包括：微观效应指标 (ζ) 等效于宏观的DFFS，且两者的值接近 → 指标ζ的可靠性；应变率效应与应力状态耦合：应力三轴度增加，DFFS值（宏观）和ζ值（微观）增大；Lode角参数增加，DFFS值（宏观）和ζ值（微观）增大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本页重点说明耦合动态断裂模型。请先看图中的试验对象、比较工况与坐标定义，再结合曲线变化或局部破坏位置判断结果。将应力状态相关的DFFS与准静力断裂面结合，构建耦合动态断裂模型。 原稿对应证据包括：应变率与应力状态效应耦合：拉伸主导应力状态下(A/B/C/F)应变率效应为正，剪切主导应力状态下为负；应变率效应（DFFS值，宏观；ζ值，微观）与ln应变率近似线性相关；应变率效应（DFFS值，宏观；和ζ值，微观）随应力三轴度和Lode角参数增加而增大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准静力下描述应力状态效应的断裂模型。请先看图中的试验对象、比较工况与坐标定义，再结合曲线变化或局部破坏位置判断结果。LMVGM作为准静力基准，描述应力三轴度与Lode角参数对应变极限的影响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-应力状态耦合的断裂应变动力系数DFFS。请先看图中的试验对象、比较工况与坐标定义，再结合曲线变化或局部破坏位置判断结果。三参数DFFS显式引入应力状态，统一描述正、负应变率效应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来源与核对：原答辩稿PDF第32页；修订数据按论文PDF第124–130页，旧稿参数及误差值已更新。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-应力状态耦合的断裂应变动力系数DFFS。请先看图中的试验对象、比较工况与坐标定义，再结合曲线变化或局部破坏位置判断结果。耦合DFFS采用三个独立常数，在精度与模型复杂度之间取得较好平衡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来源与核对：原答辩稿PDF第33页；修订数据按论文PDF第124–130页，旧稿参数及误差值已更新。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耦合动态断裂模型CD-LMVGM。请先看图中的试验对象、比较工况与坐标定义，再结合曲线变化或局部破坏位置判断结果。CD-LMVGM采用六个独立参数，Q355钢断裂应变预测RMSE为7.45%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来源与核对：原答辩稿PDF第34页；修订数据按论文PDF第124–130页，旧稿参数及误差值已更新。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耦合动态断裂模型的精度验证。请先看图中的试验对象、比较工况与坐标定义，再结合曲线变化或局部破坏位置判断结果。多材料验证中，CD-LMVGM的平均RMSE为6.77%，体现了模型的适用潜力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来源与核对：原答辩稿PDF第35页；修订数据按论文PDF第124–130页，旧稿参数及误差值已更新。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这一部分保持原稿的研究安排。下面进入4章，结合前面结果，说明本章的研究方法、关键证据与主要结论。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来源与核对：原答辩稿PDF第36页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本页重点说明试验总体方案。请先看图中的试验对象、比较工况与坐标定义，再结合曲线变化或局部破坏位置判断结果。三类典型梁柱节点采用相互对应的静力与动力试验，比较连接构造的影响。 原稿对应证据包括：获取节点的全程弯矩-转角动态响应，揭示节点的动态响应机理，分析节点受动载作用相比静载时的性能变化规律。讲述时突出主要比较结果，区分本页观察与后续模型推论。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本页重点说明试件试件。请先看图中的试验对象、比较工况与坐标定义，再结合曲线变化或局部破坏位置判断结果。统一梁柱截面和主要几何条件，突出端板连接构造对响应的影响。 原稿对应证据包括：梁-端板：梁翼缘全熔透坡口焊，梁腹板双面角焊缝；端板-柱翼缘：端板220×580×6mm，配12.9级M27高强螺栓；梁-柱翼缘：热轧等边角钢110×110×7mm，配12.9级M27高强螺栓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试件设计。请先看图中的试验对象、比较工况与坐标定义，再结合曲线变化或局部破坏位置判断结果。角钢与栓焊混合节点形成不同传力路径，为比较破坏机制提供基础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动力试验装置。请先看图中的试验对象、比较工况与坐标定义，再结合曲线变化或局部破坏位置判断结果。空气炮冲击装置与防护、限位措施共同保证动力试验的可实施性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静力试验装置。请先看图中的试验对象、比较工况与坐标定义，再结合曲线变化或局部破坏位置判断结果。准静力试验提供基准承载力、变形能力与破坏模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测量方案。请先看图中的试验对象、比较工况与坐标定义，再结合曲线变化或局部破坏位置判断结果。结合支反力、加速度与运动学测量，分离惯性贡献并重构节点弯矩–转角关系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—静力试验结果。请先看图中的试验对象、比较工况与坐标定义，再结合曲线变化或局部破坏位置判断结果。端板静力试验明确端板塑性发展与螺栓受力的相互作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—动力试验结果。请先看图中的试验对象、比较工况与坐标定义，再结合曲线变化或局部破坏位置判断结果。端板节点动力峰值弯矩较自身静力基准约提高23%，变形能力仍需单独评价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—静力试验结果。请先看图中的试验对象、比较工况与坐标定义，再结合曲线变化或局部破坏位置判断结果。角钢变形与螺栓受力共同控制静力承载与塑性发展过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—动力试验结果。请先看图中的试验对象、比较工况与坐标定义，再结合曲线变化或局部破坏位置判断结果。角钢节点动力峰值弯矩较自身静力基准约提高18%，响应呈现明显时序特征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—静力试验结果。请先看图中的试验对象、比较工况与坐标定义，再结合曲线变化或局部破坏位置判断结果。栓焊混合节点的焊缝、梁翼缘和螺栓共同决定其静力破坏路径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—动力试验结果。请先看图中的试验对象、比较工况与坐标定义，再结合曲线变化或局部破坏位置判断结果。栓焊混合节点动力峰值弯矩较自身静力基准约提高16%，局部损伤仍需关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这一部分保持原稿的研究安排。下面进入5章，结合前面结果，说明本章的研究方法、关键证据与主要结论。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来源与核对：原答辩稿PDF第49页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有限元模型验证—端板节点。请先看图中的试验对象、比较工况与坐标定义，再结合曲线变化或局部破坏位置判断结果。端板节点模型在曲线响应与破坏形态两方面与试验对比，为参数分析建立基础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有限元模型验证—角钢节点。请先看图中的试验对象、比较工况与坐标定义，再结合曲线变化或局部破坏位置判断结果。角钢节点的曲线与局部损伤验证，支撑连接构造效应的进一步分析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有限元模型验证—栓焊节点。请先看图中的试验对象、比较工况与坐标定义，再结合曲线变化或局部破坏位置判断结果。栓焊混合节点需同步验证整体响应和焊接区域的局部破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冲击速度改变响应强度与持续时间，应结合峰值、转角和破坏模式共同判断。 原稿对应证据包括：部损伤发展的影响规律，分析节点的动态响应机理；冲击初速度：80、120、160、200、240 m/s；随冲击速度提高：柱顶速度峰值和残余速度增大，峰值弯矩和峰值转角先迅速提高后减缓；；节点极限转角、塑性变形和裂纹扩展程度大幅增加；失效由端板弯曲向多排孔边撕裂演化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本页重点说明端板螺栓连接节点动态响应机理。请先看图中的试验对象、比较工况与坐标定义，再结合曲线变化或局部破坏位置判断结果。端板厚度改变板–栓相对强度，承载提升可能伴随控制破坏机制转变。 原稿对应证据包括：部损伤发展的影响规律，分析节点的动态响应机理；端板厚度：5、6、8、10、16 mm；随端板厚度增加：峰值弯矩提高，峰值转角、极限转角和端板张开量均降低；；失效模式上，孔边开裂受到抑制，端板弯曲受限。讲述时突出主要比较结果，区分本页观察与后续模型推论。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本页重点说明端板螺栓连接节点动态响应机理。请先看图中的试验对象、比较工况与坐标定义，再结合曲线变化或局部破坏位置判断结果。增大螺栓直径会重分配组件抗力，需与端板塑性发展相匹配。 原稿对应证据包括：部损伤发展的影响规律，分析节点的动态响应机理；螺栓直径：M16、M20、M24、M27、M30；随螺栓直径增大：峰值弯矩总体提高，转角和端板弯曲变形总体下降；；螺栓拉断受到抑制，薄弱部位由螺栓转移至端板孔边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本页重点说明端板螺栓连接节点动态响应机理。请先看图中的试验对象、比较工况与坐标定义，再结合曲线变化或局部破坏位置判断结果。竖向螺栓布置改变力臂与局部弯曲条件，进而影响节点整体动力响应。 原稿对应证据包括：部损伤发展的影响规律，分析节点的动态响应机理；纵向λ=n/m：0.625、0.733、0.857、1.0、1.167；随λ值增大：峰值弯矩总体提高但增速降低，转角和端板塑性变形整体下降；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本页重点说明端板螺栓连接节点动态响应机理。请先看图中的试验对象、比较工况与坐标定义，再结合曲线变化或局部破坏位置判断结果。横向螺栓间距通过端板局部弯曲和撬力作用影响抗冲击性能。 原稿对应证据包括：随边距增大：峰值弯矩先提高后降低，峰值转角基本稳定，极限转角和端板塑性变形先下降后增；加；节点裂纹扩展由螺孔外缘向端板自由边扩展转向螺孔间贯通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本页重点说明顶底腹板角钢连接节点动态响应机理。请先看图中的试验对象、比较工况与坐标定义，再结合曲线变化或局部破坏位置判断结果。角钢节点的冲击速度效应需要结合连接变形与螺栓损伤共同分析。 原稿对应证据包括：部损伤发展的影响规律，分析节点的动态响应机理；冲击初速度：80、120、160、200、240 m/s；随冲击速度提高：柱顶速度峰值和残余速度增大，峰值弯矩提高但增速减缓，转角持续增大；；失效由角钢局部弯曲向受拉翼缘角钢孔边净截面开裂发展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本页重点说明顶底腹板角钢连接节点动态响应机理。请先看图中的试验对象、比较工况与坐标定义，再结合曲线变化或局部破坏位置判断结果。角钢厚度影响柔性变形与螺栓受力之间的分配关系。 原稿对应证据包括：部损伤发展的影响规律，分析节点的动态响应机理；角钢厚度：7、8、10、12、14 mm；随角钢厚度增加：峰值弯矩提高，峰值转角先提高后降低，极限转角持续降低；；孔边开裂逐步受到抑制，节点转为整体刚度控制。讲述时突出主要比较结果，区分本页观察与后续模型推论。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本页重点说明顶底腹板角钢连接节点动态响应机理。请先看图中的试验对象、比较工况与坐标定义，再结合曲线变化或局部破坏位置判断结果。螺栓直径对角钢节点的影响取决于组件之间的强弱关系。 原稿对应证据包括：部损伤发展的影响规律，分析节点的动态响应机理；螺栓直径：M16、M20、M24、M27、M30；随螺栓直径增大：峰值弯矩增加，转动能力降低；；螺栓拉断被抑制，薄弱部位转移至角钢，最终由角钢净截面开裂控制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本页重点说明顶底腹板角钢连接节点动态响应机理。请先看图中的试验对象、比较工况与坐标定义，再结合曲线变化或局部破坏位置判断结果。角钢端距改变局部变形与传力条件，需同时考察承载和转动能力。 原稿对应证据包括：随横向边距增大：峰值弯矩、峰值转角和极限转角变化不大；；损伤路径转移：螺孔外缘裂纹向角钢自由边扩展贯通→螺孔间裂纹贯通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本页重点说明栓焊混合连接节点动态响应机理。请先看图中的试验对象、比较工况与坐标定义，再结合曲线变化或局部破坏位置判断结果。栓焊混合节点在不同速度下表现出整体动力响应与局部破坏的耦合。 原稿对应证据包括：及局部损伤发展的影响规律，分析节点的动态响应机理；冲击初速度：80、120、160、200、240 m/s；随冲击速度提高：柱顶速度峰值和残余速度增大，峰值弯矩提高但增速减缓，转角持续增。讲述时突出主要比较结果，区分本页观察与后续模型推论。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动态响应机理。请先看图中的试验对象、比较工况与坐标定义，再结合曲线变化或局部破坏位置判断结果。焊接孔构造改变局部应力集中与裂纹路径，是改善节点损伤分布的重要因素。 原稿对应证据包括：律，分析节点的动态响应机理；过焊孔构造：标准、标准-无垫板、FEMA型、扩大型；不设垫板时承载能力最差；FEMA过焊孔与标准过焊孔性能接近，扩大型过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这一部分保持原稿的研究安排。下面进入6章，结合前面结果，说明本章的研究方法、关键证据与主要结论。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来源与核对：原答辩稿PDF第64页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节点抗冲击承载力数据库。请先看图中的试验对象、比较工况与坐标定义，再结合曲线变化或局部破坏位置判断结果。按节点构造分组划分训练集与独立验证集，避免同构造样本造成信息泄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机器学习预测模型。请先看图中的试验对象、比较工况与坐标定义，再结合曲线变化或局部破坏位置判断结果。失效模式分类为后续分模式承载力计算提供依据，混淆矩阵用于识别易混类别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机器学习预测模型。请先看图中的试验对象、比较工况与坐标定义，再结合曲线变化或局部破坏位置判断结果。CatBoost能够学习构造与加载速率的非线性影响，测试集DIF预测R²为0.933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输入特征SHAP分析。请先看图中的试验对象、比较工况与坐标定义，再结合曲线变化或局部破坏位置判断结果。SHAP揭示加载速率与板–栓相对强度的重要作用，为简化计算模型选择变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板–栓相对强度与动力失效模式。请先看图中的试验对象、比较工况与坐标定义，再结合曲线变化或局部破坏位置判断结果。组件动力强化程度不同，会改变端板与螺栓的相对强弱关系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动力失效模式边界修正。请先看图中的试验对象、比较工况与坐标定义，再结合曲线变化或局部破坏位置判断结果。动力边界描述模式迁移的主要趋势，过渡区仍存在少量交叉样本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分模式动力增大系数简化公式。请先看图中的试验对象、比较工况与坐标定义，再结合曲线变化或局部破坏位置判断结果。按控制失效模式选择DIF公式，保留速率项及速率–构造耦合项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抗冲击承载力实用计算流程。请先看图中的试验对象、比较工况与坐标定义，再结合曲线变化或局部破坏位置判断结果。以静力承载力为基准，通过模式识别与分模式动力修正得到动力峰值弯矩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独立节点样本验证。请先看图中的试验对象、比较工况与坐标定义，再结合曲线变化或局部破坏位置判断结果。完整方法在独立节点样本上的动力峰值弯矩预测R²为0.910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计算方法适用范围与误差来源。请先看图中的试验对象、比较工况与坐标定义，再结合曲线变化或局部破坏位置判断结果。模式边界附近的识别误差，是完整计算流程不确定性的重要来源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这一部分保持原稿的研究安排。下面进入7章，结合前面结果，说明本章的研究方法、关键证据与主要结论。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来源与核对：原答辩稿PDF第69页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主要研究成果。请先看图中的试验对象、比较工况与坐标定义，再结合曲线变化或局部破坏位置判断结果。材料研究将宏观动力响应与微观机制联系起来，为节点动力分析提供本构与断裂输入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主要研究成果。请先看图中的试验对象、比较工况与坐标定义，再结合曲线变化或局部破坏位置判断结果。节点试验、机理分析与分模式计算共同形成由材料到连接承载力的研究链条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不足。请先看图中的试验对象、比较工况与坐标定义，再结合曲线变化或局部破坏位置判断结果。研究结论受材料、连接类型与加载范围约束，边界样本与复杂工况仍需补充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展望。请先看图中的试验对象、比较工况与坐标定义，再结合曲线变化或局部破坏位置判断结果。后续应扩展试验数据库、复杂荷载路径和构件尺度验证，完善工程适用边界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以上是我的博士学位论文答辩汇报。感谢各位专家的宝贵时间，恳请批评指正。</a:t>
            </a:r>
          </a:p>
          <a:p>
            <a:endParaRPr lang="zh-CN" dirty="0"/>
          </a:p>
          <a:p>
            <a:r>
              <a:rPr lang="zh-CN" dirty="0"/>
              <a:t>来源与核对：原答辩稿PDF第74页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.xml" />
<Relationship Id="rId5" Type="http://schemas.openxmlformats.org/officeDocument/2006/relationships/image" Target="../media/image_9868068e485b25c6.png" /><Relationship Id="rId6" Type="http://schemas.openxmlformats.org/officeDocument/2006/relationships/image" Target="../media/image_3282e4f3945a2978.png" /><Relationship Id="rId7" Type="http://schemas.openxmlformats.org/officeDocument/2006/relationships/image" Target="../media/image_c6bbf59855b0ef8f.png" />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.xml" />
<Relationship Id="rId5" Type="http://schemas.openxmlformats.org/officeDocument/2006/relationships/image" Target="../media/image_402f592b4bba91cd.png" /><Relationship Id="rId6" Type="http://schemas.openxmlformats.org/officeDocument/2006/relationships/image" Target="../media/image_e66efca8b3889f93.png" />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.xml" />
<Relationship Id="rId5" Type="http://schemas.openxmlformats.org/officeDocument/2006/relationships/image" Target="../media/image_122282d8afb62a5f.png" /><Relationship Id="rId6" Type="http://schemas.openxmlformats.org/officeDocument/2006/relationships/image" Target="../media/image_02f439bab144bd9c.png" />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7.xml" />
<Relationship Id="rId5" Type="http://schemas.openxmlformats.org/officeDocument/2006/relationships/image" Target="../media/image_f5d2273fcd210b0a.png" />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8.xml" />
<Relationship Id="rId5" Type="http://schemas.openxmlformats.org/officeDocument/2006/relationships/image" Target="../media/image_dd998828d588d512.png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9.xml" />
<Relationship Id="rId5" Type="http://schemas.openxmlformats.org/officeDocument/2006/relationships/image" Target="../media/image_4047c4ebfc5db844.png" /><Relationship Id="rId6" Type="http://schemas.openxmlformats.org/officeDocument/2006/relationships/image" Target="../media/image_ddbfab4eb3aa3692.png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0.xml" />
<Relationship Id="rId5" Type="http://schemas.openxmlformats.org/officeDocument/2006/relationships/image" Target="../media/image_49958713c0126d12.png" /><Relationship Id="rId6" Type="http://schemas.openxmlformats.org/officeDocument/2006/relationships/image" Target="../media/image_ab25edd62f40cc0a.png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1.xml" />
<Relationship Id="rId5" Type="http://schemas.openxmlformats.org/officeDocument/2006/relationships/image" Target="../media/image_b8effd42c67f0252.png" /><Relationship Id="rId6" Type="http://schemas.openxmlformats.org/officeDocument/2006/relationships/image" Target="../media/image_5b1086fdf116a6a6.png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2.xml" />
<Relationship Id="rId5" Type="http://schemas.openxmlformats.org/officeDocument/2006/relationships/image" Target="../media/image_a33520cbf7ad6394.png" /><Relationship Id="rId6" Type="http://schemas.openxmlformats.org/officeDocument/2006/relationships/image" Target="../media/image_da61f16a9d9e965b.png" />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4.xml" />
<Relationship Id="rId5" Type="http://schemas.openxmlformats.org/officeDocument/2006/relationships/image" Target="../media/image_83275f1d584143cc.png" /><Relationship Id="rId6" Type="http://schemas.openxmlformats.org/officeDocument/2006/relationships/image" Target="../media/image_9c364123432e63bc.png" />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5.xml" />
<Relationship Id="rId5" Type="http://schemas.openxmlformats.org/officeDocument/2006/relationships/image" Target="../media/image_3f14e4a6accbc756.png" /><Relationship Id="rId6" Type="http://schemas.openxmlformats.org/officeDocument/2006/relationships/image" Target="../media/image_6605c76ea28a76db.png" /></Relationships>
</file>

<file path=ppt/slides/_rels/slide1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6.xml" />
<Relationship Id="rId5" Type="http://schemas.openxmlformats.org/officeDocument/2006/relationships/image" Target="../media/image_3b3086ff13141088.png" /></Relationships>
</file>

<file path=ppt/slides/_rels/slide1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7.xml" />
<Relationship Id="rId5" Type="http://schemas.openxmlformats.org/officeDocument/2006/relationships/image" Target="../media/image_914231cd7594fcb6.png" /><Relationship Id="rId6" Type="http://schemas.openxmlformats.org/officeDocument/2006/relationships/image" Target="../media/image_dbf0b455bde1c8c6.png" /></Relationships>
</file>

<file path=ppt/slides/_rels/slide1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8.xml" />
<Relationship Id="rId5" Type="http://schemas.openxmlformats.org/officeDocument/2006/relationships/image" Target="../media/image_f8f0f715e7e5084a.png" /></Relationships>
</file>

<file path=ppt/slides/_rels/slide1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19.xml" />
<Relationship Id="rId5" Type="http://schemas.openxmlformats.org/officeDocument/2006/relationships/image" Target="../media/image_ddcb0916368727b3.png" /><Relationship Id="rId6" Type="http://schemas.openxmlformats.org/officeDocument/2006/relationships/image" Target="../media/image_7aba4a2ced2853a9.png" /></Relationships>
</file>

<file path=ppt/slides/_rels/slide2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0.xml" />
<Relationship Id="rId5" Type="http://schemas.openxmlformats.org/officeDocument/2006/relationships/image" Target="../media/image_57188d47c9d3126e.png" /><Relationship Id="rId6" Type="http://schemas.openxmlformats.org/officeDocument/2006/relationships/image" Target="../media/image_083af7087672a856.png" /></Relationships>
</file>

<file path=ppt/slides/_rels/slide2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1.xml" />
<Relationship Id="rId5" Type="http://schemas.openxmlformats.org/officeDocument/2006/relationships/image" Target="../media/image_c34ce5ad75b9d1f7.png" /></Relationships>
</file>

<file path=ppt/slides/_rels/slide2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2.xml" />
<Relationship Id="rId5" Type="http://schemas.openxmlformats.org/officeDocument/2006/relationships/image" Target="../media/image_4ba7b3a2084031f3.png" /></Relationships>
</file>

<file path=ppt/slides/_rels/slide2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3.xml" />
<Relationship Id="rId5" Type="http://schemas.openxmlformats.org/officeDocument/2006/relationships/image" Target="../media/image_577608f235df7319.png" />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4.xml"/>
</Relationships>
</file>

<file path=ppt/slides/_rels/slide2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5.xml" />
<Relationship Id="rId5" Type="http://schemas.openxmlformats.org/officeDocument/2006/relationships/image" Target="../media/image_af37f72da904db5b.png" /><Relationship Id="rId6" Type="http://schemas.openxmlformats.org/officeDocument/2006/relationships/image" Target="../media/image_6605c76ea28a76db.png" /></Relationships>
</file>

<file path=ppt/slides/_rels/slide2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6.xml" />
<Relationship Id="rId5" Type="http://schemas.openxmlformats.org/officeDocument/2006/relationships/image" Target="../media/image_a2c72d9f33a2662d.png" /><Relationship Id="rId6" Type="http://schemas.openxmlformats.org/officeDocument/2006/relationships/image" Target="../media/image_f34ee18e79cf1729.png" /></Relationships>
</file>

<file path=ppt/slides/_rels/slide2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7.xml" />
<Relationship Id="rId5" Type="http://schemas.openxmlformats.org/officeDocument/2006/relationships/image" Target="../media/image_3b2a7ffe1243d6df.png" /><Relationship Id="rId6" Type="http://schemas.openxmlformats.org/officeDocument/2006/relationships/image" Target="../media/image_f40c90bf1e319cc5.png" /></Relationships>
</file>

<file path=ppt/slides/_rels/slide2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8.xml" />
<Relationship Id="rId5" Type="http://schemas.openxmlformats.org/officeDocument/2006/relationships/image" Target="../media/image_9089eb680b686559.png" /></Relationships>
</file>

<file path=ppt/slides/_rels/slide2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29.xml" />
<Relationship Id="rId5" Type="http://schemas.openxmlformats.org/officeDocument/2006/relationships/image" Target="../media/image_3122e4f01b84ab60.png" /></Relationships>
</file>

<file path=ppt/slides/_rels/slide3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0.xml" />
<Relationship Id="rId5" Type="http://schemas.openxmlformats.org/officeDocument/2006/relationships/image" Target="../media/image_80c918d397bdb77c.png" /></Relationships>
</file>

<file path=ppt/slides/_rels/slide3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1.xml" />
<Relationship Id="rId5" Type="http://schemas.openxmlformats.org/officeDocument/2006/relationships/image" Target="../media/image_e9ab8f467e17de68.png" /><Relationship Id="rId6" Type="http://schemas.openxmlformats.org/officeDocument/2006/relationships/image" Target="../media/image_315a66b30e921c6f.png" /></Relationships>
</file>

<file path=ppt/slides/_rels/slide3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2.xml" />
<Relationship Id="rId5" Type="http://schemas.openxmlformats.org/officeDocument/2006/relationships/image" Target="../media/image_8bc4ec5c3710821a.png" /></Relationships>
</file>

<file path=ppt/slides/_rels/slide3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3.xml" />
<Relationship Id="rId5" Type="http://schemas.openxmlformats.org/officeDocument/2006/relationships/image" Target="../media/image_032661a98ddc71e8.png" /></Relationships>
</file>

<file path=ppt/slides/_rels/slide3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4.xml" />
<Relationship Id="rId5" Type="http://schemas.openxmlformats.org/officeDocument/2006/relationships/image" Target="../media/image_f6b5cf79ff7b3f3b.png" /></Relationships>
</file>

<file path=ppt/slides/_rels/slide3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5.xml" />
<Relationship Id="rId5" Type="http://schemas.openxmlformats.org/officeDocument/2006/relationships/image" Target="../media/image_bfb5a60057f35e91.png" />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36.xml"/>
</Relationships>
</file>

<file path=ppt/slides/_rels/slide3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7.xml" />
<Relationship Id="rId5" Type="http://schemas.openxmlformats.org/officeDocument/2006/relationships/image" Target="../media/image_050f75cf398228ad.png" /><Relationship Id="rId6" Type="http://schemas.openxmlformats.org/officeDocument/2006/relationships/image" Target="../media/image_f12eb8cc5f7f7466.png" /></Relationships>
</file>

<file path=ppt/slides/_rels/slide3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8.xml" />
<Relationship Id="rId5" Type="http://schemas.openxmlformats.org/officeDocument/2006/relationships/image" Target="../media/image_a5628f5e753664b6.png" /><Relationship Id="rId6" Type="http://schemas.openxmlformats.org/officeDocument/2006/relationships/image" Target="../media/image_6883b207a77febed.png" /></Relationships>
</file>

<file path=ppt/slides/_rels/slide3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39.xml" />
<Relationship Id="rId5" Type="http://schemas.openxmlformats.org/officeDocument/2006/relationships/image" Target="../media/image_4a075980e8b266a6.png" /><Relationship Id="rId6" Type="http://schemas.openxmlformats.org/officeDocument/2006/relationships/image" Target="../media/image_9e20ee5a69a8a4be.png" /></Relationships>
</file>

<file path=ppt/slides/_rels/slide4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0.xml" />
<Relationship Id="rId5" Type="http://schemas.openxmlformats.org/officeDocument/2006/relationships/image" Target="../media/image_5bb4e0c4fab77a71.png" /><Relationship Id="rId6" Type="http://schemas.openxmlformats.org/officeDocument/2006/relationships/image" Target="../media/image_fd54e1675cfe5a4c.png" /></Relationships>
</file>

<file path=ppt/slides/_rels/slide4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1.xml" />
<Relationship Id="rId5" Type="http://schemas.openxmlformats.org/officeDocument/2006/relationships/image" Target="../media/image_ef4e8edf798ebbf9.png" /><Relationship Id="rId6" Type="http://schemas.openxmlformats.org/officeDocument/2006/relationships/image" Target="../media/image_dfc06f208c09eaf0.png" /></Relationships>
</file>

<file path=ppt/slides/_rels/slide4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2.xml" />
<Relationship Id="rId5" Type="http://schemas.openxmlformats.org/officeDocument/2006/relationships/image" Target="../media/image_25ce433ee54899b8.png" /><Relationship Id="rId6" Type="http://schemas.openxmlformats.org/officeDocument/2006/relationships/image" Target="../media/image_5bf4ee2fafaa1471.png" /></Relationships>
</file>

<file path=ppt/slides/_rels/slide4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3.xml" />
<Relationship Id="rId5" Type="http://schemas.openxmlformats.org/officeDocument/2006/relationships/image" Target="../media/image_b314dffaf7148d45.png" /><Relationship Id="rId6" Type="http://schemas.openxmlformats.org/officeDocument/2006/relationships/image" Target="../media/image_270e8f4152a888b3.png" /><Relationship Id="rId7" Type="http://schemas.openxmlformats.org/officeDocument/2006/relationships/image" Target="../media/image_54c6cb4347d75692.png" /><Relationship Id="rId8" Type="http://schemas.openxmlformats.org/officeDocument/2006/relationships/image" Target="../media/image_ebc9bd979a239774.png" /><Relationship Id="rId9" Type="http://schemas.openxmlformats.org/officeDocument/2006/relationships/image" Target="../media/image_6e20dd3734b67a33.png" /><Relationship Id="rId10" Type="http://schemas.openxmlformats.org/officeDocument/2006/relationships/image" Target="../media/image_31463b17adeab5fc.png" /><Relationship Id="rId11" Type="http://schemas.openxmlformats.org/officeDocument/2006/relationships/image" Target="../media/image_306ee92c38383ef1.png" /></Relationships>
</file>

<file path=ppt/slides/_rels/slide4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4.xml" />
<Relationship Id="rId5" Type="http://schemas.openxmlformats.org/officeDocument/2006/relationships/image" Target="../media/image_e87f0419d5685845.png" /><Relationship Id="rId6" Type="http://schemas.openxmlformats.org/officeDocument/2006/relationships/image" Target="../media/image_145ca8c41610e163.png" /><Relationship Id="rId7" Type="http://schemas.openxmlformats.org/officeDocument/2006/relationships/image" Target="../media/image_9263c448aabd27af.png" /><Relationship Id="rId8" Type="http://schemas.openxmlformats.org/officeDocument/2006/relationships/image" Target="../media/image_3268897a9c073e4b.png" /><Relationship Id="rId9" Type="http://schemas.openxmlformats.org/officeDocument/2006/relationships/image" Target="../media/image_810296443035aac7.png" /><Relationship Id="rId10" Type="http://schemas.openxmlformats.org/officeDocument/2006/relationships/image" Target="../media/image_c3c24b7c7fbdcbc2.png" /><Relationship Id="rId11" Type="http://schemas.openxmlformats.org/officeDocument/2006/relationships/image" Target="../media/image_6b23412b466069ad.png" /></Relationships>
</file>

<file path=ppt/slides/_rels/slide4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5.xml" />
<Relationship Id="rId5" Type="http://schemas.openxmlformats.org/officeDocument/2006/relationships/image" Target="../media/image_8f2d4fb805067aeb.png" /><Relationship Id="rId6" Type="http://schemas.openxmlformats.org/officeDocument/2006/relationships/image" Target="../media/image_2e91d865e4f30f1f.png" /><Relationship Id="rId7" Type="http://schemas.openxmlformats.org/officeDocument/2006/relationships/image" Target="../media/image_0c85eb8b15295bd7.png" /><Relationship Id="rId8" Type="http://schemas.openxmlformats.org/officeDocument/2006/relationships/image" Target="../media/image_47652b0756473570.png" /><Relationship Id="rId9" Type="http://schemas.openxmlformats.org/officeDocument/2006/relationships/image" Target="../media/image_338ad27b1af77b46.png" /><Relationship Id="rId10" Type="http://schemas.openxmlformats.org/officeDocument/2006/relationships/image" Target="../media/image_98646694d704bc0e.png" /></Relationships>
</file>

<file path=ppt/slides/_rels/slide4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6.xml" />
<Relationship Id="rId5" Type="http://schemas.openxmlformats.org/officeDocument/2006/relationships/image" Target="../media/image_3a2abda865b3264d.png" /><Relationship Id="rId6" Type="http://schemas.openxmlformats.org/officeDocument/2006/relationships/image" Target="../media/image_9b3e2ec2a790d1b2.png" /><Relationship Id="rId7" Type="http://schemas.openxmlformats.org/officeDocument/2006/relationships/image" Target="../media/image_c5e02522c650ea46.png" /><Relationship Id="rId8" Type="http://schemas.openxmlformats.org/officeDocument/2006/relationships/image" Target="../media/image_170a5ed7dd5e69d5.png" /><Relationship Id="rId9" Type="http://schemas.openxmlformats.org/officeDocument/2006/relationships/image" Target="../media/image_4d85ab62124431fc.png" /><Relationship Id="rId10" Type="http://schemas.openxmlformats.org/officeDocument/2006/relationships/image" Target="../media/image_9fab797267124632.png" /><Relationship Id="rId11" Type="http://schemas.openxmlformats.org/officeDocument/2006/relationships/image" Target="../media/image_4734cd14ca7ee0bb.png" /></Relationships>
</file>

<file path=ppt/slides/_rels/slide4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7.xml" />
<Relationship Id="rId5" Type="http://schemas.openxmlformats.org/officeDocument/2006/relationships/image" Target="../media/image_2c9974f1935c7101.png" /><Relationship Id="rId6" Type="http://schemas.openxmlformats.org/officeDocument/2006/relationships/image" Target="../media/image_4f5b150309cb7169.png" /><Relationship Id="rId7" Type="http://schemas.openxmlformats.org/officeDocument/2006/relationships/image" Target="../media/image_37f5399abc9e4040.png" /><Relationship Id="rId8" Type="http://schemas.openxmlformats.org/officeDocument/2006/relationships/image" Target="../media/image_f2a65011658bb76d.png" /><Relationship Id="rId9" Type="http://schemas.openxmlformats.org/officeDocument/2006/relationships/image" Target="../media/image_c39bb5a07c9c00bf.png" /><Relationship Id="rId10" Type="http://schemas.openxmlformats.org/officeDocument/2006/relationships/image" Target="../media/image_0f32177135cc6b7e.png" /></Relationships>
</file>

<file path=ppt/slides/_rels/slide4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48.xml" />
<Relationship Id="rId5" Type="http://schemas.openxmlformats.org/officeDocument/2006/relationships/image" Target="../media/image_50646be312aeaaa3.png" /><Relationship Id="rId6" Type="http://schemas.openxmlformats.org/officeDocument/2006/relationships/image" Target="../media/image_60d0c53308419718.png" /><Relationship Id="rId7" Type="http://schemas.openxmlformats.org/officeDocument/2006/relationships/image" Target="../media/image_e70f88fc89e70c4a.png" /><Relationship Id="rId8" Type="http://schemas.openxmlformats.org/officeDocument/2006/relationships/image" Target="../media/image_290aa4037be7cce5.png" /><Relationship Id="rId9" Type="http://schemas.openxmlformats.org/officeDocument/2006/relationships/image" Target="../media/image_f3afc9286602d37c.png" /><Relationship Id="rId10" Type="http://schemas.openxmlformats.org/officeDocument/2006/relationships/image" Target="../media/image_153935106b9cf397.png" /><Relationship Id="rId11" Type="http://schemas.openxmlformats.org/officeDocument/2006/relationships/image" Target="../media/image_87b1b97e8eeeb3b8.png" />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49.xml"/>
</Relationships>
</file>

<file path=ppt/slides/_rels/slide5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0.xml" />
<Relationship Id="rId5" Type="http://schemas.openxmlformats.org/officeDocument/2006/relationships/image" Target="../media/image_6a3c95a7f9db7e93.png" /><Relationship Id="rId6" Type="http://schemas.openxmlformats.org/officeDocument/2006/relationships/image" Target="../media/image_9f59f89c77e547b3.png" /></Relationships>
</file>

<file path=ppt/slides/_rels/slide5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1.xml" />
<Relationship Id="rId5" Type="http://schemas.openxmlformats.org/officeDocument/2006/relationships/image" Target="../media/image_0960fbf9397fd84b.png" /><Relationship Id="rId6" Type="http://schemas.openxmlformats.org/officeDocument/2006/relationships/image" Target="../media/image_1dc50725b5345235.png" /></Relationships>
</file>

<file path=ppt/slides/_rels/slide5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2.xml" />
<Relationship Id="rId5" Type="http://schemas.openxmlformats.org/officeDocument/2006/relationships/image" Target="../media/image_6483468ae1e54d38.png" /><Relationship Id="rId6" Type="http://schemas.openxmlformats.org/officeDocument/2006/relationships/image" Target="../media/image_12ae6de683ec925a.png" /></Relationships>
</file>

<file path=ppt/slides/_rels/slide5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3.xml" />
<Relationship Id="rId5" Type="http://schemas.openxmlformats.org/officeDocument/2006/relationships/image" Target="../media/image_7e01c0cd6e8d7284.png" /><Relationship Id="rId6" Type="http://schemas.openxmlformats.org/officeDocument/2006/relationships/image" Target="../media/image_5a8cc48f9479221e.png" /></Relationships>
</file>

<file path=ppt/slides/_rels/slide5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4.xml" />
<Relationship Id="rId5" Type="http://schemas.openxmlformats.org/officeDocument/2006/relationships/image" Target="../media/image_cb0f310efe68fe1a.png" /><Relationship Id="rId6" Type="http://schemas.openxmlformats.org/officeDocument/2006/relationships/image" Target="../media/image_09c7b7dc35125f95.png" /></Relationships>
</file>

<file path=ppt/slides/_rels/slide5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5.xml" />
<Relationship Id="rId5" Type="http://schemas.openxmlformats.org/officeDocument/2006/relationships/image" Target="../media/image_28c8dbcbd933ef10.png" /><Relationship Id="rId6" Type="http://schemas.openxmlformats.org/officeDocument/2006/relationships/image" Target="../media/image_3662fdeb0f4e3992.png" /></Relationships>
</file>

<file path=ppt/slides/_rels/slide5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6.xml" />
<Relationship Id="rId5" Type="http://schemas.openxmlformats.org/officeDocument/2006/relationships/image" Target="../media/image_5e1eaebd729dbc82.png" /><Relationship Id="rId6" Type="http://schemas.openxmlformats.org/officeDocument/2006/relationships/image" Target="../media/image_b1385c15d000896c.png" /></Relationships>
</file>

<file path=ppt/slides/_rels/slide5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7.xml" />
<Relationship Id="rId5" Type="http://schemas.openxmlformats.org/officeDocument/2006/relationships/image" Target="../media/image_7a3bc26ee10310f3.png" /><Relationship Id="rId6" Type="http://schemas.openxmlformats.org/officeDocument/2006/relationships/image" Target="../media/image_f32b35a209be87e3.png" /></Relationships>
</file>

<file path=ppt/slides/_rels/slide5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8.xml" />
<Relationship Id="rId5" Type="http://schemas.openxmlformats.org/officeDocument/2006/relationships/image" Target="../media/image_bdb426db77d33080.png" /><Relationship Id="rId6" Type="http://schemas.openxmlformats.org/officeDocument/2006/relationships/image" Target="../media/image_9e73056079c59c65.png" /></Relationships>
</file>

<file path=ppt/slides/_rels/slide5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59.xml" />
<Relationship Id="rId5" Type="http://schemas.openxmlformats.org/officeDocument/2006/relationships/image" Target="../media/image_3cad3da9737edefa.png" /><Relationship Id="rId6" Type="http://schemas.openxmlformats.org/officeDocument/2006/relationships/image" Target="../media/image_9434b2018cd3a004.png" /></Relationships>
</file>

<file path=ppt/slides/_rels/slide6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0.xml" />
<Relationship Id="rId5" Type="http://schemas.openxmlformats.org/officeDocument/2006/relationships/image" Target="../media/image_4789c244dd239aef.png" /><Relationship Id="rId6" Type="http://schemas.openxmlformats.org/officeDocument/2006/relationships/image" Target="../media/image_61b2f0ea99061b2f.png" /></Relationships>
</file>

<file path=ppt/slides/_rels/slide6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1.xml" />
<Relationship Id="rId5" Type="http://schemas.openxmlformats.org/officeDocument/2006/relationships/image" Target="../media/image_c2ec0f8cf3cadd32.png" /><Relationship Id="rId6" Type="http://schemas.openxmlformats.org/officeDocument/2006/relationships/image" Target="../media/image_63212e378462a0f0.png" /></Relationships>
</file>

<file path=ppt/slides/_rels/slide6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2.xml" />
<Relationship Id="rId5" Type="http://schemas.openxmlformats.org/officeDocument/2006/relationships/image" Target="../media/image_cdc774446c1ac936.png" /><Relationship Id="rId6" Type="http://schemas.openxmlformats.org/officeDocument/2006/relationships/image" Target="../media/image_fe213d4e44574a64.png" /></Relationships>
</file>

<file path=ppt/slides/_rels/slide6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3.xml" />
<Relationship Id="rId5" Type="http://schemas.openxmlformats.org/officeDocument/2006/relationships/image" Target="../media/image_837f22524805f32c.png" /><Relationship Id="rId6" Type="http://schemas.openxmlformats.org/officeDocument/2006/relationships/image" Target="../media/image_a0e497b31e8872dd.png" />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64.xml"/>
</Relationships>
</file>

<file path=ppt/slides/_rels/slide6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5.xml" />
<Relationship Id="rId5" Type="http://schemas.openxmlformats.org/officeDocument/2006/relationships/image" Target="../media/image_295a57dfe29237ef.png" /></Relationships>
</file>

<file path=ppt/slides/_rels/slide6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6.xml" />
<Relationship Id="rId5" Type="http://schemas.openxmlformats.org/officeDocument/2006/relationships/image" Target="../media/image_a0e25dc1c901bf82.png" /></Relationships>
</file>

<file path=ppt/slides/_rels/slide6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7.xml" />
<Relationship Id="rId5" Type="http://schemas.openxmlformats.org/officeDocument/2006/relationships/image" Target="../media/image_eb28dea81f8f0825.png" /></Relationships>
</file>

<file path=ppt/slides/_rels/slide6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8.xml" />
<Relationship Id="rId5" Type="http://schemas.openxmlformats.org/officeDocument/2006/relationships/image" Target="../media/image_8b6a8b2774db3286.png" /></Relationships>
</file>

<file path=ppt/slides/_rels/slide6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69.xml" />
<Relationship Id="rId5" Type="http://schemas.openxmlformats.org/officeDocument/2006/relationships/image" Target="../media/image_ebc9bd979a239774.png" /><Relationship Id="rId6" Type="http://schemas.openxmlformats.org/officeDocument/2006/relationships/image" Target="../media/image_6e20dd3734b67a33.png" /><Relationship Id="rId7" Type="http://schemas.openxmlformats.org/officeDocument/2006/relationships/image" Target="../media/image_31463b17adeab5fc.png" /><Relationship Id="rId8" Type="http://schemas.openxmlformats.org/officeDocument/2006/relationships/image" Target="../media/image_306ee92c38383ef1.png" /></Relationships>
</file>

<file path=ppt/slides/_rels/slide7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4" Type="http://schemas.openxmlformats.org/officeDocument/2006/relationships/notesSlide" Target="../notesSlides/notesSlide70.xml" />
<Relationship Id="rId5" Type="http://schemas.openxmlformats.org/officeDocument/2006/relationships/image" Target="../media/image_e18817c4c4848968.png" />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1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2.xml"/>
</Relationships>
</file>

<file path=ppt/slides/_rels/slide7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5" Type="http://schemas.openxmlformats.org/officeDocument/2006/relationships/notesSlide" Target="../notesSlides/notesSlide73.xml" />
<Relationship Id="rId6" Type="http://schemas.openxmlformats.org/officeDocument/2006/relationships/image" Target="../media/image_42f62aaa4d97cd82.png" /><Relationship Id="rId7" Type="http://schemas.openxmlformats.org/officeDocument/2006/relationships/image" Target="../media/image_e8d930dea01ab0a8.png" /></Relationships>
</file>

<file path=ppt/slides/_rels/slide7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4.xml"/>
</Relationships>
</file>

<file path=ppt/slides/_rels/slide7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75.xml"/>
</Relationships>
</file>

<file path=ppt/slides/_rels/slide7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5" Type="http://schemas.openxmlformats.org/officeDocument/2006/relationships/notesSlide" Target="../notesSlides/notesSlide76.xml" />
<Relationship Id="rId6" Type="http://schemas.openxmlformats.org/officeDocument/2006/relationships/image" Target="../media/image_3a88a9f913fdc4ad.png" /><Relationship Id="rId7" Type="http://schemas.openxmlformats.org/officeDocument/2006/relationships/image" Target="../media/image_cd4ee6ecbc2693e6.png" /></Relationships>
</file>

<file path=ppt/slides/_rels/slide7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6" Type="http://schemas.openxmlformats.org/officeDocument/2006/relationships/notesSlide" Target="../notesSlides/notesSlide77.xml" />
<Relationship Id="rId7" Type="http://schemas.openxmlformats.org/officeDocument/2006/relationships/image" Target="../media/image_41470552015e0939.png" /><Relationship Id="rId8" Type="http://schemas.openxmlformats.org/officeDocument/2006/relationships/image" Target="../media/image_f5cc1d913267043d.png" /><Relationship Id="rId9" Type="http://schemas.openxmlformats.org/officeDocument/2006/relationships/image" Target="../media/image_e8d930dea01ab0a8.png" /></Relationships>
</file>

<file path=ppt/slides/_rels/slide7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7" Type="http://schemas.openxmlformats.org/officeDocument/2006/relationships/notesSlide" Target="../notesSlides/notesSlide78.xml" />
<Relationship Id="rId8" Type="http://schemas.openxmlformats.org/officeDocument/2006/relationships/image" Target="../media/image_31a73e34b61cb07f.png" /><Relationship Id="rId9" Type="http://schemas.openxmlformats.org/officeDocument/2006/relationships/image" Target="../media/image_47652b0756473570.png" /><Relationship Id="rId10" Type="http://schemas.openxmlformats.org/officeDocument/2006/relationships/image" Target="../media/image_e18817c4c4848968.png" /><Relationship Id="rId11" Type="http://schemas.openxmlformats.org/officeDocument/2006/relationships/image" Target="../media/image_5bb4e0c4fab77a71.png" /></Relationships>
</file>

<file path=ppt/slides/_rels/slide7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image" Target="../media/s4_img1.png" />
  <Relationship Id="rId7" Type="http://schemas.openxmlformats.org/officeDocument/2006/relationships/notesSlide" Target="../notesSlides/notesSlide79.xml" />
<Relationship Id="rId8" Type="http://schemas.openxmlformats.org/officeDocument/2006/relationships/image" Target="../media/image_31a73e34b61cb07f.png" /><Relationship Id="rId9" Type="http://schemas.openxmlformats.org/officeDocument/2006/relationships/image" Target="../media/image_47652b0756473570.png" /><Relationship Id="rId10" Type="http://schemas.openxmlformats.org/officeDocument/2006/relationships/image" Target="../media/image_e18817c4c4848968.png" /><Relationship Id="rId11" Type="http://schemas.openxmlformats.org/officeDocument/2006/relationships/image" Target="../media/image_5bb4e0c4fab77a71.png" /></Relationships>
</file>

<file path=ppt/slides/_rels/slide8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80_img1.png"/>
  <Relationship Id="rId3" Type="http://schemas.openxmlformats.org/officeDocument/2006/relationships/notesSlide" Target="../notesSlides/notesSlide8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4780" y="1097280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博士学位论文答辩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0590" y="2580322"/>
            <a:ext cx="9610820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高应变率下钢框架梁柱节点力学性能研究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86606" y="5718175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指导教师：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05856" y="5718175"/>
            <a:ext cx="25177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赵宪忠教授 闫伸副教授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86606" y="6051550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学生姓名：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05856" y="605155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魏叶云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86606" y="6384925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答辩日期：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05856" y="6372225"/>
            <a:ext cx="14176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2026.10.08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84661" y="6597968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2 / 80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84661" y="6597968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3 / 80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/ 80</a:t>
            </a:r>
          </a:p>
        </p:txBody>
      </p:sp>
      <p:grpSp>
        <p:nvGrpSpPr>
          <p:cNvPr id="32" name="reviewed-body-04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3759200" cy="5076825"/>
            </a:xfrm>
            <a:prstGeom prst="roundRect">
              <a:avLst>
                <a:gd name="adj" fmla="val 4054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27884" y="836295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偶然动力作用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523" y="1304925"/>
              <a:ext cx="2533354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3850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爆炸与撞击对重要建筑和基础设施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形成瞬态动力威胁。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216400" y="809625"/>
              <a:ext cx="3759200" cy="5076825"/>
            </a:xfrm>
            <a:prstGeom prst="roundRect">
              <a:avLst>
                <a:gd name="adj" fmla="val 4054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15687" y="836295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材料速率效应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83915" y="1304925"/>
              <a:ext cx="2824169" cy="366712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4425953" y="4996815"/>
              <a:ext cx="3850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47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材料强度与延性随应变率变化，静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25953" y="5269230"/>
              <a:ext cx="33722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47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力材性不足以代表冲击工况。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04200" y="809625"/>
              <a:ext cx="3759200" cy="5076825"/>
            </a:xfrm>
            <a:prstGeom prst="roundRect">
              <a:avLst>
                <a:gd name="adj" fmla="val 4054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03490" y="836295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6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节点动力响应</a:t>
              </a: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7550" y="1985017"/>
              <a:ext cx="3492500" cy="2306941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8413747" y="4996815"/>
              <a:ext cx="37592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3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节点承载、损伤与变形发展同时受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3747" y="5269230"/>
              <a:ext cx="33722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3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到材料和结构动力效应影响。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62684" y="5945505"/>
              <a:ext cx="88666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爆炸与冲击作用下，钢材的速率效应与节点的瞬态响应共同影响结构安全。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 / 80</a:t>
            </a:r>
          </a:p>
        </p:txBody>
      </p:sp>
      <p:grpSp>
        <p:nvGrpSpPr>
          <p:cNvPr id="27" name="reviewed-body-05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13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偶然荷载与作用速率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5656" y="1304925"/>
              <a:ext cx="3958989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动力作用覆盖不同时间尺度；材料应变率与结构加载速率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14611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需要区分。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189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材料与结构的双重影响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451806"/>
              <a:ext cx="5486400" cy="3373363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材料强化与结构惯性共同影响节点峰值承载力，不能仅用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33101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材料DIF代替节点动力修正。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14194" y="5945505"/>
              <a:ext cx="75636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节点抗冲击性能需要同时考虑材料应变率效应和结构惯性作用。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 / 80</a:t>
            </a:r>
          </a:p>
        </p:txBody>
      </p:sp>
      <p:grpSp>
        <p:nvGrpSpPr>
          <p:cNvPr id="26" name="reviewed-body-06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90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覆盖宽应变率的加载设备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1950" y="1636554"/>
              <a:ext cx="5486400" cy="3003866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采用低、中、高应变率加载设备，形成跨速率试验体系。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07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形成多种应力状态的试样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4490" y="1304925"/>
              <a:ext cx="2204720" cy="366712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通过试样几何构造不同应力状态，支撑本构与断裂行为的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9850" y="5269230"/>
              <a:ext cx="14611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区分研究。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53590" y="5945505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宽应变率范围与多应力状态试验，是建立节点动力材料输入的基础。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 / 80</a:t>
            </a:r>
          </a:p>
        </p:txBody>
      </p:sp>
      <p:grpSp>
        <p:nvGrpSpPr>
          <p:cNvPr id="21" name="reviewed-body-07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104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典型动态本构模型对比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95919" y="1285875"/>
              <a:ext cx="9000161" cy="37909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比较经验模型与物理模型的参数数量、应变硬化表达和耦合形式。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现有本构模型难以统一描述强化幅度随塑性应变发展的变化规律。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 / 80</a:t>
            </a:r>
          </a:p>
        </p:txBody>
      </p:sp>
      <p:grpSp>
        <p:nvGrpSpPr>
          <p:cNvPr id="21" name="reviewed-body-08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104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典型动态断裂模型对比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63707" y="1285875"/>
              <a:ext cx="8864585" cy="37909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86060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比较应力状态项、应变率项及耦合形式，明确动态断裂模型的改进方向。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14194" y="5945505"/>
              <a:ext cx="75636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动态断裂预测应同时描述应力状态、应变率及二者的耦合作用。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 / 80</a:t>
            </a:r>
          </a:p>
        </p:txBody>
      </p:sp>
      <p:grpSp>
        <p:nvGrpSpPr>
          <p:cNvPr id="29" name="reviewed-body-09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45242" y="817245"/>
              <a:ext cx="45015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梁端轴向约束：连续倒塌相关研究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525" y="1346287"/>
              <a:ext cx="8067675" cy="1612727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705850" y="1384935"/>
              <a:ext cx="32636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已有试验多包含梁端轴向约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0" y="169164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束，受力机制与纯弯节点存在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5850" y="1998345"/>
              <a:ext cx="1015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差别。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8600" y="3352800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68724" y="3360420"/>
              <a:ext cx="365455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梁端无轴向约束：纯弯工况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525" y="3810644"/>
              <a:ext cx="8067675" cy="1770362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8705850" y="392811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纯弯节点高速试验资料相对有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0" y="423481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限，需要统一边界条件开展对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5850" y="4541520"/>
              <a:ext cx="7661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比。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节点冲击试验需要明确边界约束，避免将不同受力机制直接比较。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 / 80</a:t>
            </a:r>
          </a:p>
        </p:txBody>
      </p:sp>
      <p:grpSp>
        <p:nvGrpSpPr>
          <p:cNvPr id="29" name="reviewed-body-10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1045" y="81724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有轴向约束的数值研究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525" y="1364475"/>
              <a:ext cx="8067675" cy="1576349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705850" y="138493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已有研究涉及多种连接及局部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0" y="169164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破坏，但材料速率与惯性贡献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5850" y="1998345"/>
              <a:ext cx="226466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的分离仍需完善。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8600" y="3352800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92206" y="3360420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纯弯工况的数值研究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525" y="3863189"/>
              <a:ext cx="8067675" cy="1665272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8705850" y="392811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针对本研究边界条件验证整体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0" y="423481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响应与局部损伤，形成可用于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5850" y="4541520"/>
              <a:ext cx="226466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参数分析的模型。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44496" y="5945505"/>
              <a:ext cx="73030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数值分析应在材料、响应时程和破坏模式三个层面完成验证。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93853" y="6626542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 / 80</a:t>
            </a:r>
          </a:p>
        </p:txBody>
      </p:sp>
      <p:grpSp>
        <p:nvGrpSpPr>
          <p:cNvPr id="29" name="reviewed-body-11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1045" y="81724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连续倒塌相关组件模型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525" y="1364475"/>
              <a:ext cx="8067675" cy="1576349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705850" y="138493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组件法建立构造与承载力之间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0" y="169164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的联系，可作为动力修正的静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5850" y="1998345"/>
              <a:ext cx="126568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力基准。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8600" y="3352800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33366" y="3360420"/>
              <a:ext cx="25252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纯弯节点组件模型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525" y="3863189"/>
              <a:ext cx="8067675" cy="1665272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8705850" y="392811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在静力组件关系上进一步引入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0" y="4234815"/>
              <a:ext cx="32636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动力强化差异及失效模式迁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5850" y="4541520"/>
              <a:ext cx="7661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移。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组件理论为承载力简化提供基础，动力强化和模式迁移仍需修正。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研究路线与研究内容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/ 80</a:t>
            </a:r>
          </a:p>
        </p:txBody>
      </p:sp>
      <p:grpSp>
        <p:nvGrpSpPr>
          <p:cNvPr id="27" name="reviewed-body-12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13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研究目标与关键问题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3203" y="1304925"/>
              <a:ext cx="3803894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从材料输入、节点动力试验、动态响应机理和计算方法四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方面形成逐层支撑。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8151" y="836295"/>
              <a:ext cx="34173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材料—节点—计算研究路线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1251" y="1304925"/>
              <a:ext cx="4491198" cy="366712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材料模型用于节点分析；试验验证数值模型；机理分析支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19389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撑承载力简化。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1476" y="5945505"/>
              <a:ext cx="99090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按照材料模型、节点试验、动力机理和实用计算的顺序，形成逐层验证的研究路线。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25511" y="6597968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13 / 80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14 / 80</a:t>
            </a:r>
          </a:p>
        </p:txBody>
      </p:sp>
      <p:grpSp>
        <p:nvGrpSpPr>
          <p:cNvPr id="27" name="reviewed-body-14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13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低应变率试验与试件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2840" y="1304925"/>
              <a:ext cx="3864620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获得准静力基准与低速动力响应，统一不同速率下的数据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处理。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189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中高应变率试验与试件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72284" y="1304925"/>
              <a:ext cx="5229132" cy="366712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采用高速拉伸与霍普金森杆装置，实现跨数量级应变率加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载。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1286" y="5945505"/>
              <a:ext cx="868941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多设备协同覆盖准静力到高速加载范围，获得Q355钢的全过程动力响应。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 / 80</a:t>
            </a:r>
          </a:p>
        </p:txBody>
      </p:sp>
      <p:grpSp>
        <p:nvGrpSpPr>
          <p:cNvPr id="26" name="reviewed-body-15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37158" y="836295"/>
              <a:ext cx="353597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目标应变率—应力状态矩阵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5161" y="1304925"/>
              <a:ext cx="4119978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4204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五种目标应变率：0.001、0.1、10、1000、5000 s⁻¹。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07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六类试样及对应加载设备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409482"/>
              <a:ext cx="5486400" cy="345801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A为单轴拉伸，B/C为多轴拉伸，D为纯剪切，E为拉剪复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9850" y="5269230"/>
              <a:ext cx="27941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合，F为平面应变拉伸。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05100" y="5945505"/>
              <a:ext cx="6781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五种目标应变率与六类应力状态共同构成材料试验矩阵。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16 / 80</a:t>
            </a:r>
          </a:p>
        </p:txBody>
      </p:sp>
      <p:grpSp>
        <p:nvGrpSpPr>
          <p:cNvPr id="21" name="reviewed-body-16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45242" y="836295"/>
              <a:ext cx="45015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工程响应、真应力与动力增大系数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47391" y="1285875"/>
              <a:ext cx="8097218" cy="37909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853826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强度随应变率提高而增强；DIF随塑性应变发展变化，并非全过程常数。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材料强度随应变率提高而增大，其强化幅度随变形发展发生变化。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微观组织表征方法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17 / 80</a:t>
            </a:r>
          </a:p>
        </p:txBody>
      </p:sp>
      <p:grpSp>
        <p:nvGrpSpPr>
          <p:cNvPr id="29" name="reviewed-body-17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61598" y="817245"/>
              <a:ext cx="24688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SEM / EBSD表征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525" y="1418325"/>
              <a:ext cx="8067675" cy="1468649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705850" y="1384935"/>
              <a:ext cx="319871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SEM用于断口与形貌观察，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0" y="169164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EBSD用于晶粒、位错及织构分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5850" y="1998345"/>
              <a:ext cx="7661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析。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8600" y="3352800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15687" y="3360420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试样制备流程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525" y="4068383"/>
              <a:ext cx="8067675" cy="1254884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8705850" y="3928110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取样、切割、镶嵌、研磨、抛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0" y="423481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光及制样共同保证微观表征质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5850" y="4541520"/>
              <a:ext cx="7661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量。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00501" y="5945505"/>
              <a:ext cx="79909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通过SEM与EBSD，将宏观应力–应变响应与微观组织演化对应起来。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塑性变形机制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18 / 80</a:t>
            </a:r>
          </a:p>
        </p:txBody>
      </p:sp>
      <p:grpSp>
        <p:nvGrpSpPr>
          <p:cNvPr id="21" name="reviewed-body-18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86403" y="836295"/>
              <a:ext cx="42191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相图、几何必需位错与取向信息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50" y="1796606"/>
              <a:ext cx="11391900" cy="2769488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83454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从位错运动、晶粒尺度与晶间协调变形三个方面解释多晶体塑性响应。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14194" y="5945505"/>
              <a:ext cx="75636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位错、晶粒与织构的演化为塑性变形机制分析提供了微观证据。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19 / 80</a:t>
            </a:r>
          </a:p>
        </p:txBody>
      </p:sp>
      <p:grpSp>
        <p:nvGrpSpPr>
          <p:cNvPr id="27" name="reviewed-body-19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19479" y="836295"/>
              <a:ext cx="297133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宏观真应力—应变响应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3898" y="1304925"/>
              <a:ext cx="4902504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在同一应变水平下比较不同应变率，区分速率强化与应变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硬化。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830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微观组织的定量变化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817929"/>
              <a:ext cx="5486400" cy="2641117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GND密度、晶粒尺度与织构变化相互作用，共同调节强化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幅度。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3288" y="5945505"/>
              <a:ext cx="83454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宏观强化与微观组织演化相互对应，应变率效应具有明确的材料机制。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应变率效应的应变依赖性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 / 80</a:t>
            </a:r>
          </a:p>
        </p:txBody>
      </p:sp>
      <p:grpSp>
        <p:nvGrpSpPr>
          <p:cNvPr id="27" name="reviewed-body-20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38055" y="836295"/>
              <a:ext cx="27341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宏观DIF随应变演化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2594" y="1304925"/>
              <a:ext cx="5345113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5937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DIF在小应变区变化较快，随后随塑性应变发展逐步衰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减。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55113" y="836295"/>
              <a:ext cx="386347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微观组织指标与DIF对应关系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377289"/>
              <a:ext cx="5486400" cy="3522397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宏、微观指标呈对应变化，为建立应变依赖模型提供依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据。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7470" y="5945505"/>
              <a:ext cx="80170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DIF随真应变发展而变化，采用单一常数难以描述全过程强化效应。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86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应变依赖的动力增大系数SD-DIF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21 / 80</a:t>
            </a:r>
          </a:p>
        </p:txBody>
      </p:sp>
      <p:grpSp>
        <p:nvGrpSpPr>
          <p:cNvPr id="21" name="reviewed-body-21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28008" y="836295"/>
              <a:ext cx="353597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宏观—微观拟合及参数关系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50" y="1432398"/>
              <a:ext cx="11391900" cy="349790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90594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用指数关系描述DIF随应变的变化，再建立其参数与对数应变率之间的联系。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53590" y="5945505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以应变与应变率为共同变量，构造具有应变依赖性的动力增大系数。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86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应变依赖的动力增大系数SD-DIF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22 / 80</a:t>
            </a:r>
          </a:p>
        </p:txBody>
      </p:sp>
      <p:grpSp>
        <p:nvGrpSpPr>
          <p:cNvPr id="22" name="reviewed-body-22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00963" y="836295"/>
              <a:ext cx="379006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SD-DIF拟合结果与预测曲面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50" y="1556964"/>
              <a:ext cx="11391900" cy="2934446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9366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三参数模型同时描述应变与应变率影响；c₁=0.013，c₂=0.599，c₃=0.949。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9590" y="4861560"/>
              <a:ext cx="961283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93345" rIns="10" bIns="0" anchor="t" anchorCtr="0">
              <a:noAutofit/>
            </a:bodyPr>
            <a:lstStyle/>
            <a:p>
              <a:pPr algn="ctr"/>
              <a:r>
                <a:rPr lang="el-GR" sz="210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DIF(ε, ε̇) = 1 + c₁ [exp(−c₂ ln ε̇* · ε) + c₃] ln ε̇*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21351" y="5945505"/>
              <a:ext cx="79493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1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SD-DIF用三个独立参数描述强化幅度及其随应变发展的衰减规律。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8764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SD-DIF精度验证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23 / 80</a:t>
            </a:r>
          </a:p>
        </p:txBody>
      </p:sp>
      <p:grpSp>
        <p:nvGrpSpPr>
          <p:cNvPr id="21" name="reviewed-body-23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46584" y="836295"/>
              <a:ext cx="32988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多钢种DIF预测精度比较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4479" y="1285875"/>
              <a:ext cx="10023042" cy="37909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77616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屈服、极限及平均DIF预测RMSE分别为5.60%、4.38%、4.70%。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0445" y="5945505"/>
              <a:ext cx="87311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1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跨材料对比验证表明，SD-DIF能够兼顾屈服、极限和全过程强化的预测。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24 / 80</a:t>
            </a:r>
          </a:p>
        </p:txBody>
      </p:sp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25 / 80</a:t>
            </a:r>
          </a:p>
        </p:txBody>
      </p:sp>
      <p:grpSp>
        <p:nvGrpSpPr>
          <p:cNvPr id="27" name="reviewed-body-25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77874" y="836295"/>
              <a:ext cx="365455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五种应变率与六类应力状态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5161" y="1304925"/>
              <a:ext cx="4119978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标定与验证覆盖单轴、多轴、纯剪、拉剪复合及平面应变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拉伸。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830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断裂试样及试验设备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409482"/>
              <a:ext cx="5486400" cy="345801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通过几何变化控制应力状态，获得动态断裂模型所需的多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14611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状态数据。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92986" y="5945505"/>
              <a:ext cx="86060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不同几何试样形成六类应力状态，为动态断裂模型提供标定与验证数据。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26 / 80</a:t>
            </a:r>
          </a:p>
        </p:txBody>
      </p:sp>
      <p:grpSp>
        <p:nvGrpSpPr>
          <p:cNvPr id="26" name="reviewed-body-26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13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不同试样的动力响应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3283" y="1304925"/>
              <a:ext cx="5263735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比较同一试样在不同应变率下的力学响应，识别强化及断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裂差异。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830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典型断口与微观形貌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33595" y="1304925"/>
              <a:ext cx="5106510" cy="366712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2833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结合断口形貌解释不同应力状态下的断裂机制。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53590" y="5945505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拉伸主导与剪切主导状态下，断裂响应呈现不同的应变率依赖规律。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71074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宏观断裂特性的应变率与应力状态效应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27 / 80</a:t>
            </a:r>
          </a:p>
        </p:txBody>
      </p:sp>
      <p:grpSp>
        <p:nvGrpSpPr>
          <p:cNvPr id="25" name="reviewed-body-27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90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应变率对断裂应变的影响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992" y="1304925"/>
              <a:ext cx="4920316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52833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拉伸主导与剪切主导状态呈不同速率依赖方向。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73246" y="836295"/>
              <a:ext cx="40272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1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应力三轴度与Lode角参数影响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5870" y="1304925"/>
              <a:ext cx="5081959" cy="366712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应力状态调节断裂应变，同时改变其对应变率的敏感性。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53590" y="5945505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断裂应变的速率效应受应力状态调节，不能简单采用统一正向强化。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71074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微观组织演化的应变率与应力状态效应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28 / 80</a:t>
            </a:r>
          </a:p>
        </p:txBody>
      </p:sp>
      <p:grpSp>
        <p:nvGrpSpPr>
          <p:cNvPr id="21" name="reviewed-body-28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87745" y="836295"/>
              <a:ext cx="30165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GND、晶粒与织构演化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50" y="1734496"/>
              <a:ext cx="11391900" cy="2893709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73030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应变率与应力状态共同调节位错增殖、晶粒变形和织构发展。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微观组织对应变率和应力状态的响应，为宏观断裂差异提供解释。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应变率与应力状态的耦合效应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29 / 80</a:t>
            </a:r>
          </a:p>
        </p:txBody>
      </p:sp>
      <p:grpSp>
        <p:nvGrpSpPr>
          <p:cNvPr id="21" name="reviewed-body-29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41235" y="836295"/>
              <a:ext cx="430953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1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宏观DFFS与微观指标的耦合规律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178" y="1285875"/>
              <a:ext cx="11339645" cy="37909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868941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DFFS随应变率和应力状态共同变化，需要在速率项中显式引入状态变量。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53590" y="5945505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应变率效应的方向与幅度随应力状态变化，需要在模型中显式耦合。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耦合动态断裂模型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 / 80</a:t>
            </a:r>
          </a:p>
        </p:txBody>
      </p:sp>
      <p:grpSp>
        <p:nvGrpSpPr>
          <p:cNvPr id="22" name="reviewed-body-30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0988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动态断裂的耦合建模依据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50" y="1557848"/>
              <a:ext cx="11391900" cy="2932678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47675" y="5212080"/>
              <a:ext cx="81421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准静力LMVGM描述状态效应，耦合DFFS描述状态相关的应变率效应。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18608" y="4861560"/>
              <a:ext cx="85547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93345" rIns="0" bIns="0" anchor="t" anchorCtr="0">
              <a:noAutofit/>
            </a:bodyPr>
            <a:lstStyle/>
            <a:p>
              <a:pPr algn="ctr"/>
              <a:r>
                <a:rPr lang="el-GR" sz="210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εf = α exp(−βR + γξ) [1 + (μR + λξ + η) ln ε̇*]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81588" y="5945505"/>
              <a:ext cx="8428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将应力状态相关的DFFS与准静力断裂面结合，构建耦合动态断裂模型。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71074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准静力下描述应力状态效应的断裂模型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31 / 80</a:t>
            </a:r>
          </a:p>
        </p:txBody>
      </p:sp>
      <p:grpSp>
        <p:nvGrpSpPr>
          <p:cNvPr id="27" name="reviewed-body-31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13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准静力断裂应变预测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1950" y="1435429"/>
              <a:ext cx="5486400" cy="3406117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770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用R和ξ描述应力状态，比较各模型对不同状态下断裂应变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的预测。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189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模型复杂度与误差评价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496845"/>
              <a:ext cx="5486400" cy="3283284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以相同误差口径比较参数数量与拟合效果，选取LMVGM作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17000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为静力基准。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34014" y="5945505"/>
              <a:ext cx="89239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LMVGM作为准静力基准，描述应力三轴度与Lode角参数对应变极限的影响。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86601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应变率-应力状态耦合的断裂应变动力系数DFFS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32 / 80</a:t>
            </a:r>
          </a:p>
        </p:txBody>
      </p:sp>
      <p:grpSp>
        <p:nvGrpSpPr>
          <p:cNvPr id="45" name="reviewed-body-32"/>
          <p:cNvGrpSpPr/>
          <p:nvPr/>
        </p:nvGrpSpPr>
        <p:grpSpPr>
          <a:xfrm>
            <a:off x="209550" y="786765"/>
            <a:ext cx="11963400" cy="5524500"/>
            <a:chOff x="209550" y="786765"/>
            <a:chExt cx="11963400" cy="552450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72200" y="809625"/>
              <a:ext cx="57912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9550" y="800100"/>
              <a:ext cx="5772150" cy="5029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72200" y="800100"/>
              <a:ext cx="5810250" cy="5029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4800" y="786765"/>
              <a:ext cx="23927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耦合动态系数 DFFS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543" y="1485900"/>
              <a:ext cx="4970164" cy="36671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6362700" y="1224915"/>
              <a:ext cx="553806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90011" rIns="0" bIns="0" anchor="t" anchorCtr="0">
              <a:noAutofit/>
            </a:bodyPr>
            <a:lstStyle/>
            <a:p>
              <a:pPr algn="l"/>
              <a:r>
                <a:rPr lang="el-GR" sz="202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DFFS = 1 + (μR + λξ + η) ln ε̇*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62700" y="182118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72250" y="1821180"/>
              <a:ext cx="56007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R为应力三轴度，ξ为Lode角参数；ε̇*为归一化应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72250" y="2129790"/>
              <a:ext cx="10485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变率。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62700" y="265557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2250" y="2655570"/>
              <a:ext cx="52181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通过应力状态线性组合调节速率敏感程度。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62700" y="315849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72250" y="3158490"/>
              <a:ext cx="56007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能够同时表征拉伸主导的正应变率效应与剪切主导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72250" y="3467100"/>
              <a:ext cx="23515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的负应变率效应。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4657725"/>
              <a:ext cx="1666875" cy="419100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3200" y="468249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l-GR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143875" y="4657725"/>
              <a:ext cx="1666875" cy="419100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20075" y="468249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l-GR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λ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810750" y="4657725"/>
              <a:ext cx="1666875" cy="419100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86950" y="468249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l-GR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η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5076825"/>
              <a:ext cx="1666875" cy="4191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3200" y="5101590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0.021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43875" y="5076825"/>
              <a:ext cx="1666875" cy="4191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20075" y="5101590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810750" y="5076825"/>
              <a:ext cx="1666875" cy="4191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86950" y="5101590"/>
              <a:ext cx="1098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−0.014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00800" y="5499735"/>
              <a:ext cx="33861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0008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来源：论文式(3.14)，PDF第124页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02796" y="5945505"/>
              <a:ext cx="73863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三参数DFFS显式引入应力状态，统一描述正、负应变率效应。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86601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应变率-应力状态耦合的断裂应变动力系数DFFS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33 / 80</a:t>
            </a:r>
          </a:p>
        </p:txBody>
      </p:sp>
      <p:grpSp>
        <p:nvGrpSpPr>
          <p:cNvPr id="44" name="reviewed-body-33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7191375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10475" y="809625"/>
              <a:ext cx="4352925" cy="5076825"/>
            </a:xfrm>
            <a:prstGeom prst="roundRect">
              <a:avLst>
                <a:gd name="adj" fmla="val 3501"/>
              </a:avLst>
            </a:prstGeom>
            <a:solidFill>
              <a:srgbClr val="F2F2F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7835" y="847725"/>
              <a:ext cx="5834805" cy="48577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734300" y="82486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综合评价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05725" y="1400175"/>
              <a:ext cx="2047875" cy="5429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81925" y="142494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评价指标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753600" y="1400175"/>
              <a:ext cx="2095500" cy="5429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29800" y="1424940"/>
              <a:ext cx="12986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耦合DFFS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705725" y="1943100"/>
              <a:ext cx="2047875" cy="5429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81925" y="1967865"/>
              <a:ext cx="17000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独立参数数量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753600" y="1943100"/>
              <a:ext cx="2095500" cy="5429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29800" y="1967865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05725" y="2486025"/>
              <a:ext cx="2047875" cy="5429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81925" y="2510790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REavg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753600" y="2486025"/>
              <a:ext cx="2095500" cy="5429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29800" y="2510790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5.11%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705725" y="3028950"/>
              <a:ext cx="2047875" cy="5429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81925" y="3053715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RMSRE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753600" y="3028950"/>
              <a:ext cx="2095500" cy="5429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29800" y="3053715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8.42%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705725" y="3571875"/>
              <a:ext cx="2047875" cy="5429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81925" y="3596640"/>
              <a:ext cx="8209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RMSE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53600" y="3571875"/>
              <a:ext cx="2095500" cy="5429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29800" y="3596640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8.71%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3825" y="4347210"/>
              <a:ext cx="442912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相对误差、相对均方根误差与均方根误差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3825" y="4642961"/>
              <a:ext cx="376313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分别评价；避免混用不同口径。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4300" y="5566410"/>
              <a:ext cx="27684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0008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来源：论文PDF第125–126页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81588" y="5945505"/>
              <a:ext cx="8428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耦合DFFS采用三个独立常数，在精度与模型复杂度之间取得较好平衡。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3684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耦合动态断裂模型CD-LMVGM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34 / 80</a:t>
            </a:r>
          </a:p>
        </p:txBody>
      </p:sp>
      <p:grpSp>
        <p:nvGrpSpPr>
          <p:cNvPr id="59" name="reviewed-body-34"/>
          <p:cNvGrpSpPr/>
          <p:nvPr/>
        </p:nvGrpSpPr>
        <p:grpSpPr>
          <a:xfrm>
            <a:off x="190500" y="809625"/>
            <a:ext cx="11982450" cy="5501640"/>
            <a:chOff x="190500" y="809625"/>
            <a:chExt cx="119824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933450"/>
            </a:xfrm>
            <a:prstGeom prst="roundRect">
              <a:avLst>
                <a:gd name="adj" fmla="val 1632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1885950"/>
              <a:ext cx="6734175" cy="4000500"/>
            </a:xfrm>
            <a:prstGeom prst="roundRect">
              <a:avLst>
                <a:gd name="adj" fmla="val 381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62800" y="1885950"/>
              <a:ext cx="4800600" cy="4000500"/>
            </a:xfrm>
            <a:prstGeom prst="roundRect">
              <a:avLst>
                <a:gd name="adj" fmla="val 381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90500" y="819150"/>
              <a:ext cx="11791950" cy="895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8601" y="975360"/>
              <a:ext cx="10034788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110014" rIns="0" bIns="0" anchor="t" anchorCtr="0">
              <a:noAutofit/>
            </a:bodyPr>
            <a:lstStyle/>
            <a:p>
              <a:pPr algn="ctr"/>
              <a:r>
                <a:rPr lang="el-GR" sz="248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εf = α exp(−βR + γξ) [1 + (μR + λξ + η) ln ε̇*]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49455" y="1876425"/>
              <a:ext cx="4187716" cy="40005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7324725" y="1882140"/>
              <a:ext cx="19389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六参数耦合模型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324725" y="2409825"/>
              <a:ext cx="1085850" cy="40957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00925" y="2434590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参数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410575" y="2409825"/>
              <a:ext cx="1085850" cy="40957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86775" y="243459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l-GR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α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496425" y="2409825"/>
              <a:ext cx="1085850" cy="40957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72625" y="243459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l-GR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582275" y="2409825"/>
              <a:ext cx="1085850" cy="40957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58475" y="243459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l-GR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γ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324725" y="281940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00925" y="2844165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取值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10575" y="281940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86775" y="2844165"/>
              <a:ext cx="8209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1.59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496425" y="281940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72625" y="2844165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0.780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582275" y="281940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658475" y="2844165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24725" y="3228975"/>
              <a:ext cx="1085850" cy="409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00925" y="3253740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参数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10575" y="3228975"/>
              <a:ext cx="1085850" cy="409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86775" y="325374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l-GR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μ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496425" y="3228975"/>
              <a:ext cx="1085850" cy="409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72625" y="325374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l-GR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λ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582275" y="3228975"/>
              <a:ext cx="1085850" cy="409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58475" y="325374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l-GR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η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24725" y="363855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00925" y="3663315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取值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410575" y="363855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86775" y="3663315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0.021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496425" y="363855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572625" y="3663315"/>
              <a:ext cx="9594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582275" y="3638550"/>
              <a:ext cx="1085850" cy="4095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58475" y="3663315"/>
              <a:ext cx="1098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−0.014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19975" y="4238625"/>
              <a:ext cx="152628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1333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7.45%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19975" y="4781550"/>
              <a:ext cx="19258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6675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Q355钢预测RMSE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19975" y="5052060"/>
              <a:ext cx="47529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准静力断裂面 × 应变率–应力状态耦合项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030139" y="5945505"/>
              <a:ext cx="81317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1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CD-LMVGM采用六个独立参数，Q355钢断裂应变预测RMSE为7.45%。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耦合动态断裂模型的精度验证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35 / 80</a:t>
            </a:r>
          </a:p>
        </p:txBody>
      </p:sp>
      <p:grpSp>
        <p:nvGrpSpPr>
          <p:cNvPr id="33" name="reviewed-body-35"/>
          <p:cNvGrpSpPr/>
          <p:nvPr/>
        </p:nvGrpSpPr>
        <p:grpSpPr>
          <a:xfrm>
            <a:off x="228600" y="805815"/>
            <a:ext cx="11944350" cy="5505450"/>
            <a:chOff x="228600" y="805815"/>
            <a:chExt cx="1194435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77724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191500" y="809625"/>
              <a:ext cx="3771900" cy="5076825"/>
            </a:xfrm>
            <a:prstGeom prst="roundRect">
              <a:avLst>
                <a:gd name="adj" fmla="val 404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3850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基于本文与文献数据的多材料对比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125" y="1495000"/>
              <a:ext cx="7781925" cy="39823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8239125" y="1676400"/>
              <a:ext cx="152628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1333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6.77%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39125" y="2219325"/>
              <a:ext cx="20735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6675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六种材料平均RMSE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20075" y="292608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29625" y="2926080"/>
              <a:ext cx="37433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以多材料数据检验模型的可迁移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9625" y="3234690"/>
              <a:ext cx="7879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0075" y="3750945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9625" y="3750945"/>
              <a:ext cx="37433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同一评价口径比较预测精度与离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29625" y="4059555"/>
              <a:ext cx="10485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散性。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0075" y="457581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9625" y="4575810"/>
              <a:ext cx="36545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新增材料仍应重新标定模型参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29625" y="4884420"/>
              <a:ext cx="7879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数。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3375" y="5623560"/>
              <a:ext cx="31594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0008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来源：论文图3.36，PDF第129页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80924" y="5945505"/>
              <a:ext cx="88301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多材料验证中，CD-LMVGM的平均RMSE为6.77%，体现了模型的适用潜力。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36 / 80</a:t>
            </a:r>
          </a:p>
        </p:txBody>
      </p:sp>
    </p:spTree>
  </p:cSld>
  <p:clrMapOvr>
    <a:masterClrMapping/>
  </p:clrMapOvr>
  <p:transition dur="400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试验总体方案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37 / 80</a:t>
            </a:r>
          </a:p>
        </p:txBody>
      </p:sp>
      <p:grpSp>
        <p:nvGrpSpPr>
          <p:cNvPr id="26" name="reviewed-body-37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90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统一试验矩阵与冲击装置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1445" y="1304925"/>
              <a:ext cx="3967411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三类连接采用相同梁柱子结构，设置静力基准和高速冲击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工况。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830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动力与静力加载体系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05123" y="1304925"/>
              <a:ext cx="5163455" cy="366712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在对应边界条件下比较节点的承载、转动与损伤发展。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62684" y="5945505"/>
              <a:ext cx="88666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三类典型梁柱节点采用相互对应的静力与动力试验，比较连接构造的影响。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试件设计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38 / 80</a:t>
            </a:r>
          </a:p>
        </p:txBody>
      </p:sp>
      <p:grpSp>
        <p:nvGrpSpPr>
          <p:cNvPr id="28" name="reviewed-body-38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68724" y="817245"/>
              <a:ext cx="365455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三类连接的共同条件与差异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525" y="1509459"/>
              <a:ext cx="8067675" cy="1286381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705850" y="1384935"/>
              <a:ext cx="32636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统一梁柱截面与主要几何条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0" y="1691640"/>
              <a:ext cx="301390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件，突出连接构造差异。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8600" y="3352800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27563" y="3360420"/>
              <a:ext cx="393687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端板节点的构造、实物与尺寸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7705" y="3790950"/>
              <a:ext cx="7693315" cy="180975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8705850" y="3928110"/>
              <a:ext cx="32636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端板弯曲与螺栓受力相互作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5850" y="423481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用，是后续试验与组件分析的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0" y="4541520"/>
              <a:ext cx="1015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基础。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统一梁柱截面和主要几何条件，突出端板连接构造对响应的影响。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试件设计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39 / 80</a:t>
            </a:r>
          </a:p>
        </p:txBody>
      </p:sp>
      <p:grpSp>
        <p:nvGrpSpPr>
          <p:cNvPr id="28" name="reviewed-body-39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33366" y="817245"/>
              <a:ext cx="25252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顶底腹板角钢连接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525" y="1316510"/>
              <a:ext cx="8067675" cy="167228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705850" y="138493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通过角钢构件与螺栓传力，兼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0" y="1691640"/>
              <a:ext cx="301390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顾连接柔性与局部损伤。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8600" y="3352800"/>
              <a:ext cx="11734800" cy="2381250"/>
            </a:xfrm>
            <a:prstGeom prst="roundRect">
              <a:avLst>
                <a:gd name="adj" fmla="val 64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15687" y="3360420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栓焊混合连接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525" y="3885141"/>
              <a:ext cx="8067675" cy="1621368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8705850" y="3928110"/>
              <a:ext cx="32636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翼缘焊接与腹板螺栓共同传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5850" y="4234815"/>
              <a:ext cx="34671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力，局部破坏路径与端板、角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0" y="4541520"/>
              <a:ext cx="176517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钢连接不同。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53590" y="5945505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角钢与栓焊混合节点形成不同传力路径，为比较破坏机制提供基础。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动力试验装置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40 / 80</a:t>
            </a:r>
          </a:p>
        </p:txBody>
      </p:sp>
      <p:grpSp>
        <p:nvGrpSpPr>
          <p:cNvPr id="27" name="reviewed-body-40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13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冲击加载与反力体系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2218" y="1304925"/>
              <a:ext cx="2685864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空气炮提供冲击输入，反力架与试件共同形成明确的传力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路径。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189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截停、防护与试验现场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453540"/>
              <a:ext cx="5486400" cy="336989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采用拉索、限位、截停及安全网控制试件和冲击体的残余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9850" y="5269230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运动。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空气炮冲击装置与防护、限位措施共同保证动力试验的可实施性。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静力试验装置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41 / 80</a:t>
            </a:r>
          </a:p>
        </p:txBody>
      </p:sp>
      <p:grpSp>
        <p:nvGrpSpPr>
          <p:cNvPr id="26" name="reviewed-body-41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24837" y="836295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静力加载体系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16416" y="1304925"/>
              <a:ext cx="2177469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57993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通过位移控制获得节点静力基准响应，加载速度为2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13369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mm/min。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830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加载设备与实物布置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393930"/>
              <a:ext cx="5486400" cy="348911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在与动力试验对应的子结构和边界条件下开展静力测试。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65704" y="5945505"/>
              <a:ext cx="62605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准静力试验提供基准承载力、变形能力与破坏模式。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测量方案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42 / 80</a:t>
            </a:r>
          </a:p>
        </p:txBody>
      </p:sp>
      <p:grpSp>
        <p:nvGrpSpPr>
          <p:cNvPr id="30" name="reviewed-body-42"/>
          <p:cNvGrpSpPr/>
          <p:nvPr/>
        </p:nvGrpSpPr>
        <p:grpSpPr>
          <a:xfrm>
            <a:off x="228600" y="809625"/>
            <a:ext cx="11734800" cy="5501640"/>
            <a:chOff x="228600" y="809625"/>
            <a:chExt cx="1173480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04082" y="836295"/>
              <a:ext cx="478383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测点布置、平衡验证与节点响应重构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" y="1298018"/>
              <a:ext cx="2857500" cy="4357214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10625" y="1425733"/>
              <a:ext cx="2952750" cy="4101784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3552825" y="1379220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多源响应测量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2825" y="1792605"/>
              <a:ext cx="5478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冲击力、支座反力、位移及加速度分别记录输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2825" y="2112645"/>
              <a:ext cx="28727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入、支承和构件运动。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2825" y="2724150"/>
              <a:ext cx="19606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动力平衡校核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52825" y="3137535"/>
              <a:ext cx="60729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F = R₁ + R₂ + Fᵢ；结合构件质量与加速度积分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2825" y="3457575"/>
              <a:ext cx="23515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确定惯性力贡献。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2825" y="4069080"/>
              <a:ext cx="224294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节点弯矩与转角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2825" y="4482465"/>
              <a:ext cx="58801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M = R·Lb + Mᵢ；通过两侧梁的位移与运动学关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2825" y="4802505"/>
              <a:ext cx="3023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系重构弯矩—转角响应。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56811" y="5945505"/>
              <a:ext cx="927838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1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结合支反力、加速度与运动学测量，分离惯性贡献并重构节点弯矩–转角关系。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端板螺栓连接节点—静力试验结果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43 / 80</a:t>
            </a:r>
          </a:p>
        </p:txBody>
      </p:sp>
      <p:grpSp>
        <p:nvGrpSpPr>
          <p:cNvPr id="30" name="reviewed-body-43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667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809625"/>
              <a:ext cx="4876800" cy="5076825"/>
            </a:xfrm>
            <a:prstGeom prst="roundRect">
              <a:avLst>
                <a:gd name="adj" fmla="val 3125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64358" y="836295"/>
              <a:ext cx="13959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试验曲线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120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试验现象与局部损伤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8676" y="1352550"/>
              <a:ext cx="2023074" cy="181927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716" y="3552825"/>
              <a:ext cx="2236994" cy="1819275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3725" y="1897985"/>
              <a:ext cx="3609975" cy="2890580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66919" y="1343025"/>
              <a:ext cx="3916161" cy="1893094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48525" y="3533103"/>
              <a:ext cx="1441450" cy="1191968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19953" y="3450431"/>
              <a:ext cx="1010093" cy="1357312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03856" y="3450431"/>
              <a:ext cx="953787" cy="1357312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305675" y="5004435"/>
              <a:ext cx="48672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受拉区端板弯曲；最外排螺栓孔边起裂并向端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05675" y="5311140"/>
              <a:ext cx="201491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板自由边扩展。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05100" y="5945505"/>
              <a:ext cx="6781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端板弯曲与螺栓孔边净截面开裂共同控制节点静力失效。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端板螺栓连接节点—动力试验结果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44 / 80</a:t>
            </a:r>
          </a:p>
        </p:txBody>
      </p:sp>
      <p:grpSp>
        <p:nvGrpSpPr>
          <p:cNvPr id="43" name="reviewed-body-44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667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809625"/>
              <a:ext cx="4876800" cy="5076825"/>
            </a:xfrm>
            <a:prstGeom prst="roundRect">
              <a:avLst>
                <a:gd name="adj" fmla="val 3125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585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关键时程与响应形成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8004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损伤现象与动静力对比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5982" y="1285875"/>
              <a:ext cx="4853685" cy="149542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2530" y="2971800"/>
              <a:ext cx="4720590" cy="16859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840211" y="4623435"/>
              <a:ext cx="34252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加速度响应与冲击力—惯性力—支反力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0050" y="5086350"/>
              <a:ext cx="1438275" cy="59055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07197" y="5088255"/>
              <a:ext cx="122398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3341" rIns="0" bIns="0" anchor="t" anchorCtr="0">
              <a:noAutofit/>
            </a:bodyPr>
            <a:lstStyle/>
            <a:p>
              <a:pPr algn="ctr"/>
              <a:r>
                <a:rPr lang="en-US" sz="142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27.40 ms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9478" y="5337810"/>
              <a:ext cx="1439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冲击与惯性力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971675" y="5086350"/>
              <a:ext cx="1438275" cy="59055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78822" y="5088255"/>
              <a:ext cx="122398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3341" rIns="0" bIns="0" anchor="t" anchorCtr="0">
              <a:noAutofit/>
            </a:bodyPr>
            <a:lstStyle/>
            <a:p>
              <a:pPr algn="ctr"/>
              <a:r>
                <a:rPr lang="en-US" sz="142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27.49 ms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66556" y="5337810"/>
              <a:ext cx="10485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梁惯性矩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43300" y="5086350"/>
              <a:ext cx="1438275" cy="59055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50447" y="5088255"/>
              <a:ext cx="122398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3341" rIns="0" bIns="0" anchor="t" anchorCtr="0">
              <a:noAutofit/>
            </a:bodyPr>
            <a:lstStyle/>
            <a:p>
              <a:pPr algn="ctr"/>
              <a:r>
                <a:rPr lang="en-US" sz="142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28.21 ms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40455" y="5337810"/>
              <a:ext cx="1243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位移与转角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14925" y="5086350"/>
              <a:ext cx="1438275" cy="59055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22072" y="5088255"/>
              <a:ext cx="122398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3341" rIns="0" bIns="0" anchor="t" anchorCtr="0">
              <a:noAutofit/>
            </a:bodyPr>
            <a:lstStyle/>
            <a:p>
              <a:pPr algn="ctr"/>
              <a:r>
                <a:rPr lang="en-US" sz="142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28.59 ms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09806" y="5337810"/>
              <a:ext cx="10485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支反力矩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92874" y="1323975"/>
              <a:ext cx="1304834" cy="1181100"/>
            </a:xfrm>
            <a:prstGeom prst="rect">
              <a:avLst/>
            </a:prstGeom>
          </p:spPr>
        </p:pic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79719" y="1323975"/>
              <a:ext cx="1300328" cy="1181100"/>
            </a:xfrm>
            <a:prstGeom prst="rect">
              <a:avLst/>
            </a:prstGeom>
          </p:spPr>
        </p:pic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87000" y="1323975"/>
              <a:ext cx="445184" cy="578739"/>
            </a:xfrm>
            <a:prstGeom prst="rect">
              <a:avLst/>
            </a:prstGeom>
          </p:spPr>
        </p:pic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92564" y="1926336"/>
              <a:ext cx="434054" cy="578739"/>
            </a:xfrm>
            <a:prstGeom prst="rect">
              <a:avLst/>
            </a:prstGeom>
          </p:spPr>
        </p:pic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21835" y="2705100"/>
              <a:ext cx="3787280" cy="2619375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286625" y="5320665"/>
              <a:ext cx="48863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受拉区端板孔边起裂并贯通至板边；整体仍以对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86625" y="5614035"/>
              <a:ext cx="17000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称变形为主。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66262" y="5945505"/>
              <a:ext cx="90594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端板节点动力峰值弯矩较自身静力基准约提高23%，变形能力仍需单独评价。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921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顶底腹板角钢连接节点—静力试验结果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45 / 80</a:t>
            </a:r>
          </a:p>
        </p:txBody>
      </p:sp>
      <p:grpSp>
        <p:nvGrpSpPr>
          <p:cNvPr id="32" name="reviewed-body-45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667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809625"/>
              <a:ext cx="4876800" cy="5076825"/>
            </a:xfrm>
            <a:prstGeom prst="roundRect">
              <a:avLst>
                <a:gd name="adj" fmla="val 3125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64358" y="836295"/>
              <a:ext cx="13959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试验曲线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120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试验现象与局部损伤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7224" y="1352550"/>
              <a:ext cx="1925977" cy="1819275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923820" y="3137535"/>
              <a:ext cx="1552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柱中荷载—位移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1858" y="3552825"/>
              <a:ext cx="2296709" cy="181927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23820" y="5404485"/>
              <a:ext cx="1552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弯矩—转角处理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3725" y="1941151"/>
              <a:ext cx="3609975" cy="2804248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3869141" y="5175885"/>
              <a:ext cx="21391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两侧梁静力弯矩—转角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03903" y="1343025"/>
              <a:ext cx="4042193" cy="1893094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56510" y="3450431"/>
              <a:ext cx="1803355" cy="1357312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75651" y="3450431"/>
              <a:ext cx="1032322" cy="1357313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305675" y="5004435"/>
              <a:ext cx="48672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翼缘角钢面外弯曲；受拉侧沿螺栓排开裂，形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05675" y="5311140"/>
              <a:ext cx="201491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成净截面破坏。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05100" y="5945505"/>
              <a:ext cx="6781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翼缘角钢弯曲及孔边净截面破坏共同控制节点静力失效。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921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顶底腹板角钢连接节点—动力试验结果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46 / 80</a:t>
            </a:r>
          </a:p>
        </p:txBody>
      </p:sp>
      <p:grpSp>
        <p:nvGrpSpPr>
          <p:cNvPr id="33" name="reviewed-body-46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667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809625"/>
              <a:ext cx="4876800" cy="5076825"/>
            </a:xfrm>
            <a:prstGeom prst="roundRect">
              <a:avLst>
                <a:gd name="adj" fmla="val 3125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585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关键时程与响应形成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8004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损伤现象与动静力对比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5982" y="1285875"/>
              <a:ext cx="4853685" cy="149542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2530" y="2971800"/>
              <a:ext cx="4720590" cy="16859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840211" y="4623435"/>
              <a:ext cx="34252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加速度响应与冲击力—惯性力—支反力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675" y="4964430"/>
              <a:ext cx="70424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响应依次经历应力波传播、惯性与整体运动发展、支承反力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675" y="5284470"/>
              <a:ext cx="10485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形成。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82584" y="1323975"/>
              <a:ext cx="1325414" cy="1181100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04945" y="1323975"/>
              <a:ext cx="1449876" cy="1181100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99984" y="1323975"/>
              <a:ext cx="419215" cy="578739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001839" y="1926336"/>
              <a:ext cx="415505" cy="578739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21835" y="2705100"/>
              <a:ext cx="3787280" cy="2619375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286625" y="5320665"/>
              <a:ext cx="48863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角钢孔边裂纹与局部塑性发展共同影响动力破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86625" y="5614035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坏。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66262" y="5945505"/>
              <a:ext cx="90594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角钢节点动力峰值弯矩较自身静力基准约提高18%，响应呈现明显时序特征。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栓焊混合连接节点—静力试验结果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47 / 80</a:t>
            </a:r>
          </a:p>
        </p:txBody>
      </p:sp>
      <p:grpSp>
        <p:nvGrpSpPr>
          <p:cNvPr id="32" name="reviewed-body-47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667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809625"/>
              <a:ext cx="4876800" cy="5076825"/>
            </a:xfrm>
            <a:prstGeom prst="roundRect">
              <a:avLst>
                <a:gd name="adj" fmla="val 3125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64358" y="836295"/>
              <a:ext cx="13959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试验曲线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120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试验现象与局部损伤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1727" y="1352550"/>
              <a:ext cx="1916972" cy="1819275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923820" y="3137535"/>
              <a:ext cx="1552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柱中荷载—位移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5798" y="3552825"/>
              <a:ext cx="1988830" cy="181927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23820" y="5404485"/>
              <a:ext cx="1552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弯矩—转角处理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3725" y="1821097"/>
              <a:ext cx="3609975" cy="3044357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3869141" y="5175885"/>
              <a:ext cx="21391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两侧梁静力弯矩—转角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14347" y="1343025"/>
              <a:ext cx="3621305" cy="1893094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40529" y="3450431"/>
              <a:ext cx="1635316" cy="1357312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898223" y="3450431"/>
              <a:ext cx="1587180" cy="1357312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305675" y="5004435"/>
              <a:ext cx="48672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单侧梁受拉翼缘开裂、腹板剪切破坏，节点出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05675" y="5311140"/>
              <a:ext cx="201491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现非对称偏转。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梁翼缘开裂与腹板剪切损伤共同决定栓焊混合节点静力破坏路径。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栓焊混合连接节点—动力试验结果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48 / 80</a:t>
            </a:r>
          </a:p>
        </p:txBody>
      </p:sp>
      <p:grpSp>
        <p:nvGrpSpPr>
          <p:cNvPr id="32" name="reviewed-body-48"/>
          <p:cNvGrpSpPr/>
          <p:nvPr/>
        </p:nvGrpSpPr>
        <p:grpSpPr>
          <a:xfrm>
            <a:off x="228600" y="809625"/>
            <a:ext cx="11863578" cy="5501640"/>
            <a:chOff x="228600" y="809625"/>
            <a:chExt cx="11863578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667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809625"/>
              <a:ext cx="4876800" cy="5076825"/>
            </a:xfrm>
            <a:prstGeom prst="roundRect">
              <a:avLst>
                <a:gd name="adj" fmla="val 3125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58556" y="83629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关键时程与响应形成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80045" y="836295"/>
              <a:ext cx="3089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损伤现象与动静力对比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5982" y="1285875"/>
              <a:ext cx="4853685" cy="149542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2530" y="2971800"/>
              <a:ext cx="4720590" cy="16859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840211" y="4623435"/>
              <a:ext cx="34252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60008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加速度响应与冲击力—惯性力—支反力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675" y="4964430"/>
              <a:ext cx="70424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响应依次经历应力波传播、惯性与整体运动发展、支承反力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675" y="5284470"/>
              <a:ext cx="10485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形成。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60831" y="1323975"/>
              <a:ext cx="1368920" cy="1181100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06726" y="1323975"/>
              <a:ext cx="1246314" cy="1181100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83522" y="1323975"/>
              <a:ext cx="452140" cy="578739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89035" y="1926336"/>
              <a:ext cx="441112" cy="578739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21835" y="2705100"/>
              <a:ext cx="3787280" cy="2619375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286625" y="5320665"/>
              <a:ext cx="4805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梁翼缘与腹板损伤共同控制动力局部破坏。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6262" y="5945505"/>
              <a:ext cx="90594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栓焊混合节点动力峰值弯矩较自身静力基准约提高16%，局部损伤仍需关注。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49 / 80</a:t>
            </a:r>
          </a:p>
        </p:txBody>
      </p:sp>
    </p:spTree>
  </p:cSld>
  <p:clrMapOvr>
    <a:masterClrMapping/>
  </p:clrMapOvr>
  <p:transition dur="400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8508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有限元模型验证—端板节点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50 / 80</a:t>
            </a:r>
          </a:p>
        </p:txBody>
      </p:sp>
      <p:grpSp>
        <p:nvGrpSpPr>
          <p:cNvPr id="26" name="reviewed-body-50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90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静力响应与破坏模式验证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1950" y="1969730"/>
              <a:ext cx="5486400" cy="233751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1385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同时比较弯矩—转角曲线及端板、螺栓区域的局部损伤。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07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动力响应与破坏模式验证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989048"/>
              <a:ext cx="5486400" cy="2298879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验证峰值、响应形态和动力破坏特征，避免仅以曲线峰值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9850" y="5269230"/>
              <a:ext cx="19389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判断模型有效。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02080" y="5945505"/>
              <a:ext cx="9387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端板节点模型在曲线响应与破坏形态两方面与试验对比，为参数分析建立基础。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8508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有限元模型验证—角钢节点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51 / 80</a:t>
            </a:r>
          </a:p>
        </p:txBody>
      </p:sp>
      <p:grpSp>
        <p:nvGrpSpPr>
          <p:cNvPr id="26" name="reviewed-body-51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90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静力响应与破坏模式验证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1950" y="1985070"/>
              <a:ext cx="5486400" cy="230683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对比角钢节点整体曲线及连接局部损伤，校核静力基准模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150" y="5269230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型。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007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动力响应与破坏模式验证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1999222"/>
              <a:ext cx="5486400" cy="2278531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19850" y="4996815"/>
              <a:ext cx="5753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通过动力曲线与角钢、螺栓损伤对比，支撑参数分析。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53590" y="5945505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角钢节点的曲线与局部损伤验证，支撑连接构造效应的进一步分析。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8508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有限元模型验证—栓焊节点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52 / 80</a:t>
            </a:r>
          </a:p>
        </p:txBody>
      </p:sp>
      <p:grpSp>
        <p:nvGrpSpPr>
          <p:cNvPr id="25" name="reviewed-body-52"/>
          <p:cNvGrpSpPr/>
          <p:nvPr/>
        </p:nvGrpSpPr>
        <p:grpSpPr>
          <a:xfrm>
            <a:off x="228600" y="809625"/>
            <a:ext cx="11852015" cy="5501640"/>
            <a:chOff x="228600" y="809625"/>
            <a:chExt cx="11852015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90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静力响应与破坏模式验证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1950" y="2232820"/>
              <a:ext cx="5486400" cy="181133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38150" y="4996815"/>
              <a:ext cx="61385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整体弯矩—转角响应与焊接区域破坏共同验证静力模型。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103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0734" y="836295"/>
              <a:ext cx="3372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动力响应与破坏模式验证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650" y="2214108"/>
              <a:ext cx="5486400" cy="184876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419850" y="4996815"/>
              <a:ext cx="56607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比较动力承载、变形发展及翼缘/腹板的局部失效。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74798" y="5945505"/>
              <a:ext cx="70424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栓焊混合节点需同步验证整体响应和焊接区域的局部破坏。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53 / 80</a:t>
            </a:r>
          </a:p>
        </p:txBody>
      </p:sp>
      <p:grpSp>
        <p:nvGrpSpPr>
          <p:cNvPr id="24" name="reviewed-body-53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随冲击速度提高：柱顶速度峰值和残余速度增大，峰值弯矩和峰值转角先迅速提高后减缓； 节点极限转角、塑性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3590" y="6221730"/>
              <a:ext cx="80848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变形和裂纹扩展程度大幅增加；失效由端板弯曲向多排孔边撕裂演化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54 / 80</a:t>
            </a:r>
          </a:p>
        </p:txBody>
      </p:sp>
      <p:grpSp>
        <p:nvGrpSpPr>
          <p:cNvPr id="24" name="reviewed-body-54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随端板厚度增加：峰值弯矩提高，峰值转角、极限转角和端板张开量均降低； 失效模式上，孔边开裂受到抑制，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80838" y="6221730"/>
              <a:ext cx="18303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端板弯曲受限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55 / 80</a:t>
            </a:r>
          </a:p>
        </p:txBody>
      </p:sp>
      <p:grpSp>
        <p:nvGrpSpPr>
          <p:cNvPr id="24" name="reviewed-body-55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随螺栓直径增大：峰值弯矩总体提高，转角和端板弯曲变形总体下降； 螺栓拉断受到抑制，薄弱部位由螺栓转移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11140" y="6221730"/>
              <a:ext cx="1569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至端板孔边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56 / 80</a:t>
            </a:r>
          </a:p>
        </p:txBody>
      </p:sp>
      <p:grpSp>
        <p:nvGrpSpPr>
          <p:cNvPr id="23" name="reviewed-body-56"/>
          <p:cNvGrpSpPr/>
          <p:nvPr/>
        </p:nvGrpSpPr>
        <p:grpSpPr>
          <a:xfrm>
            <a:off x="208512" y="809625"/>
            <a:ext cx="11774976" cy="5501640"/>
            <a:chOff x="208512" y="809625"/>
            <a:chExt cx="11774976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208512" y="5945505"/>
              <a:ext cx="117749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随λ值增大：峰值弯矩总体提高但增速降低，转角和端板塑性变形整体下降； 节点损伤破坏模式不变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57 / 80</a:t>
            </a:r>
          </a:p>
        </p:txBody>
      </p:sp>
      <p:grpSp>
        <p:nvGrpSpPr>
          <p:cNvPr id="24" name="reviewed-body-57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随边距增大：峰值弯矩先提高后降低，峰值转角基本稳定，极限转角和端板塑性变形先下降后增 加；节点裂纹扩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6308" y="6221730"/>
              <a:ext cx="57393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展由螺孔外缘向端板自由边扩展转向螺孔间贯通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58 / 80</a:t>
            </a:r>
          </a:p>
        </p:txBody>
      </p:sp>
      <p:grpSp>
        <p:nvGrpSpPr>
          <p:cNvPr id="24" name="reviewed-body-58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随冲击速度提高：柱顶速度峰值和残余速度增大，峰值弯矩提高但增速减缓，转角持续增大； 失效由角钢局部弯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47516" y="6221730"/>
              <a:ext cx="46969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曲向受拉翼缘角钢孔边净截面开裂发展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59 / 80</a:t>
            </a:r>
          </a:p>
        </p:txBody>
      </p:sp>
      <p:grpSp>
        <p:nvGrpSpPr>
          <p:cNvPr id="24" name="reviewed-body-59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随角钢厚度增加：峰值弯矩提高，峰值转角先提高后降低，极限转角持续降低； 孔边开裂逐步受到抑制，节点转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50536" y="6221730"/>
              <a:ext cx="20909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为整体刚度控制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60 / 80</a:t>
            </a:r>
          </a:p>
        </p:txBody>
      </p:sp>
      <p:grpSp>
        <p:nvGrpSpPr>
          <p:cNvPr id="24" name="reviewed-body-60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随螺栓直径增大：峰值弯矩增加，转动能力降低； 螺栓拉断被抑制，薄弱部位转移至角钢，最终由角钢净截面开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71744" y="6221730"/>
              <a:ext cx="10485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裂控制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61 / 80</a:t>
            </a:r>
          </a:p>
        </p:txBody>
      </p:sp>
      <p:grpSp>
        <p:nvGrpSpPr>
          <p:cNvPr id="24" name="reviewed-body-61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随横向边距增大：峰值弯矩、峰值转角和极限转角变化不大； 损伤路径转移：螺孔外缘裂纹向角钢自由边扩展贯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44663" y="6221730"/>
              <a:ext cx="25026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1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通→螺孔间裂纹贯通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62 / 80</a:t>
            </a:r>
          </a:p>
        </p:txBody>
      </p:sp>
      <p:grpSp>
        <p:nvGrpSpPr>
          <p:cNvPr id="24" name="reviewed-body-62"/>
          <p:cNvGrpSpPr/>
          <p:nvPr/>
        </p:nvGrpSpPr>
        <p:grpSpPr>
          <a:xfrm>
            <a:off x="19050" y="809625"/>
            <a:ext cx="12153900" cy="5777865"/>
            <a:chOff x="19050" y="809625"/>
            <a:chExt cx="12153900" cy="5777865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8695" y="1200150"/>
              <a:ext cx="8514611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091" y="3343275"/>
              <a:ext cx="11303818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9050" y="5945505"/>
              <a:ext cx="12153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随冲击速度提高：柱顶速度峰值和残余速度增大，峰值弯矩提高但增速减缓，转角持续增 大；损伤失效程度逐渐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02046" y="6221730"/>
              <a:ext cx="7879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增大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63 / 80</a:t>
            </a:r>
          </a:p>
        </p:txBody>
      </p:sp>
      <p:grpSp>
        <p:nvGrpSpPr>
          <p:cNvPr id="23" name="reviewed-body-63"/>
          <p:cNvGrpSpPr/>
          <p:nvPr/>
        </p:nvGrpSpPr>
        <p:grpSpPr>
          <a:xfrm>
            <a:off x="57360" y="809625"/>
            <a:ext cx="12077271" cy="5501640"/>
            <a:chOff x="57360" y="809625"/>
            <a:chExt cx="12077271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11734800" cy="2019300"/>
            </a:xfrm>
            <a:prstGeom prst="roundRect">
              <a:avLst>
                <a:gd name="adj" fmla="val 7547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" y="2962275"/>
              <a:ext cx="11734800" cy="2924175"/>
            </a:xfrm>
            <a:prstGeom prst="roundRect">
              <a:avLst>
                <a:gd name="adj" fmla="val 521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2206" y="8172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8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工况设置与响应指标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33899" y="1200150"/>
              <a:ext cx="6924202" cy="1562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2206" y="2950845"/>
              <a:ext cx="28075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6677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参数变化与响应趋势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92933" y="3343275"/>
              <a:ext cx="6606134" cy="240982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57360" y="5945505"/>
              <a:ext cx="1207727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不设垫板时承载能力最低；FEMA与标准过焊孔性能接近，扩大型过焊孔因削弱有效梁翼缘而性能略降。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64 / 80</a:t>
            </a:r>
          </a:p>
        </p:txBody>
      </p:sp>
    </p:spTree>
  </p:cSld>
  <p:clrMapOvr>
    <a:masterClrMapping/>
  </p:clrMapOvr>
  <p:transition dur="400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节点抗冲击承载力数据库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65 / 80</a:t>
            </a:r>
          </a:p>
        </p:txBody>
      </p:sp>
      <p:grpSp>
        <p:nvGrpSpPr>
          <p:cNvPr id="61" name="reviewed-body-65"/>
          <p:cNvGrpSpPr/>
          <p:nvPr/>
        </p:nvGrpSpPr>
        <p:grpSpPr>
          <a:xfrm>
            <a:off x="228600" y="805815"/>
            <a:ext cx="11734800" cy="5505450"/>
            <a:chOff x="228600" y="805815"/>
            <a:chExt cx="1173480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4102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867400" y="809625"/>
              <a:ext cx="60960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样本生成与分组划分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62650" y="805815"/>
              <a:ext cx="19389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输入特征相关性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5750" y="1352550"/>
              <a:ext cx="1952625" cy="4667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1950" y="137731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样本分组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38375" y="1352550"/>
              <a:ext cx="1095375" cy="4667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14575" y="1377315"/>
              <a:ext cx="983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构造数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333750" y="1352550"/>
              <a:ext cx="1095375" cy="4667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09950" y="1377315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静力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29125" y="1352550"/>
              <a:ext cx="1095375" cy="4667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05325" y="1377315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动力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5750" y="1819275"/>
              <a:ext cx="195262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1950" y="184404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全部样本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38375" y="1819275"/>
              <a:ext cx="109537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314575" y="1844040"/>
              <a:ext cx="5438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33750" y="1819275"/>
              <a:ext cx="109537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09950" y="1844040"/>
              <a:ext cx="5438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29125" y="1819275"/>
              <a:ext cx="109537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05325" y="1844040"/>
              <a:ext cx="682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385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5750" y="2286000"/>
              <a:ext cx="1952625" cy="4667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61950" y="231076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训练构造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238375" y="2286000"/>
              <a:ext cx="1095375" cy="4667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314575" y="2310765"/>
              <a:ext cx="5438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333750" y="2286000"/>
              <a:ext cx="1095375" cy="4667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409950" y="2310765"/>
              <a:ext cx="5438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429125" y="2286000"/>
              <a:ext cx="1095375" cy="4667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05325" y="2310765"/>
              <a:ext cx="682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310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85750" y="2752725"/>
              <a:ext cx="195262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1950" y="277749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独立验证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238375" y="2752725"/>
              <a:ext cx="109537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314575" y="2777490"/>
              <a:ext cx="5438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333750" y="2752725"/>
              <a:ext cx="109537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409950" y="2777490"/>
              <a:ext cx="5438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429125" y="2752725"/>
              <a:ext cx="1095375" cy="4667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05325" y="2777490"/>
              <a:ext cx="5438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4800" y="3451860"/>
              <a:ext cx="4115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4350" y="3451860"/>
              <a:ext cx="455233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每种构造包含1个静力及5个动力工况。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4800" y="3931444"/>
              <a:ext cx="4115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14350" y="3931444"/>
              <a:ext cx="60108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按构造分组，避免同一节点的不同速率工况跨集合泄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4350" y="4227195"/>
              <a:ext cx="7661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漏。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04800" y="4728686"/>
              <a:ext cx="4115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4350" y="4728686"/>
              <a:ext cx="60108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相关性分析用于检查变量联系，不等同于因果解释。</a:t>
              </a:r>
            </a:p>
          </p:txBody>
        </p:sp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5130" y="1323975"/>
              <a:ext cx="4320540" cy="4457700"/>
            </a:xfrm>
            <a:prstGeom prst="rect">
              <a:avLst/>
            </a:prstGeom>
          </p:spPr>
        </p:pic>
        <p:sp>
          <p:nvSpPr>
            <p:cNvPr id="60" name="TextBox 60"/>
            <p:cNvSpPr txBox="1"/>
            <p:nvPr/>
          </p:nvSpPr>
          <p:spPr>
            <a:xfrm>
              <a:off x="1662684" y="5945505"/>
              <a:ext cx="88666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按节点构造分组划分训练集与独立验证集，避免同构造样本造成信息泄漏。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机器学习预测模型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66 / 80</a:t>
            </a:r>
          </a:p>
        </p:txBody>
      </p:sp>
      <p:grpSp>
        <p:nvGrpSpPr>
          <p:cNvPr id="32" name="reviewed-body-66"/>
          <p:cNvGrpSpPr/>
          <p:nvPr/>
        </p:nvGrpSpPr>
        <p:grpSpPr>
          <a:xfrm>
            <a:off x="228600" y="805815"/>
            <a:ext cx="11734800" cy="5505450"/>
            <a:chOff x="228600" y="805815"/>
            <a:chExt cx="1173480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4914900" cy="5076825"/>
            </a:xfrm>
            <a:prstGeom prst="roundRect">
              <a:avLst>
                <a:gd name="adj" fmla="val 3101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72100" y="809625"/>
              <a:ext cx="65913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17000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失效模式分类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7825" y="805815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分类结果与混淆分析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800" y="128778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4350" y="1287780"/>
              <a:ext cx="62605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以构造、材料与加载速率为输入，识别动力控制失效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4350" y="1596390"/>
              <a:ext cx="10485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模式。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4800" y="2188845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4350" y="2188845"/>
              <a:ext cx="62605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比较分类模型，结合混淆矩阵分析各类样本的识别情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4350" y="2497455"/>
              <a:ext cx="7879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况。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800" y="308991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4350" y="3089910"/>
              <a:ext cx="57393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分类结果用于调用相应的承载力动力修正公式。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1000" y="4648200"/>
              <a:ext cx="4381500" cy="8858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1975" y="4716780"/>
              <a:ext cx="47542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模式标签 → 分模式DIF → 动力承载力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7188" y="1304925"/>
              <a:ext cx="5871600" cy="443865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1402080" y="5945505"/>
              <a:ext cx="9387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失效模式分类为后续分模式承载力计算提供依据，混淆矩阵用于识别易混类别。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机器学习预测模型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67 / 80</a:t>
            </a:r>
          </a:p>
        </p:txBody>
      </p:sp>
      <p:grpSp>
        <p:nvGrpSpPr>
          <p:cNvPr id="32" name="reviewed-body-67"/>
          <p:cNvGrpSpPr/>
          <p:nvPr/>
        </p:nvGrpSpPr>
        <p:grpSpPr>
          <a:xfrm>
            <a:off x="228600" y="805815"/>
            <a:ext cx="11944350" cy="5505450"/>
            <a:chOff x="228600" y="805815"/>
            <a:chExt cx="1194435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515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972300" y="809625"/>
              <a:ext cx="4991100" cy="5076825"/>
            </a:xfrm>
            <a:prstGeom prst="roundRect">
              <a:avLst>
                <a:gd name="adj" fmla="val 3053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17764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DIFM回归预测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8500" y="805815"/>
              <a:ext cx="2655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从预测性能到力学解释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3683" y="1323975"/>
              <a:ext cx="4811584" cy="4429125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191375" y="1447800"/>
              <a:ext cx="152628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1333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0.933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91375" y="1990725"/>
              <a:ext cx="21777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6675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CatBoost测试集R²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4225" y="283083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43775" y="2830830"/>
              <a:ext cx="48291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输入特征包含几何构造、材料强度与加载速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43775" y="3139440"/>
              <a:ext cx="7879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率。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34225" y="372237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43775" y="3722370"/>
              <a:ext cx="48291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非线性回归刻画多变量之间的耦合关系。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4225" y="428244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43775" y="4282440"/>
              <a:ext cx="48291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以SHAP解释作为简化公式选取主导变量的依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43775" y="4591050"/>
              <a:ext cx="7879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据。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44749" y="5945505"/>
              <a:ext cx="950250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CatBoost能够学习构造与加载速率的非线性影响，测试集DIF预测R²为0.933。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46380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输入特征SHAP分析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68 / 80</a:t>
            </a:r>
          </a:p>
        </p:txBody>
      </p:sp>
      <p:grpSp>
        <p:nvGrpSpPr>
          <p:cNvPr id="34" name="reviewed-body-68"/>
          <p:cNvGrpSpPr/>
          <p:nvPr/>
        </p:nvGrpSpPr>
        <p:grpSpPr>
          <a:xfrm>
            <a:off x="228600" y="805815"/>
            <a:ext cx="11944350" cy="5505450"/>
            <a:chOff x="228600" y="805815"/>
            <a:chExt cx="1194435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7658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115300" y="809625"/>
              <a:ext cx="3848100" cy="5076825"/>
            </a:xfrm>
            <a:prstGeom prst="roundRect">
              <a:avLst>
                <a:gd name="adj" fmla="val 396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17764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SHAP特征贡献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01025" y="805815"/>
              <a:ext cx="28944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面向简化模型的变量提取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667" y="1323975"/>
              <a:ext cx="6954715" cy="43053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267700" y="1289685"/>
              <a:ext cx="4115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7250" y="1289685"/>
              <a:ext cx="35133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加载速率参数反映动力作用强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7250" y="1585436"/>
              <a:ext cx="7661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度。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7700" y="2077402"/>
              <a:ext cx="4115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7250" y="2077402"/>
              <a:ext cx="365824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板–栓相对强度反映组件竞争关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77250" y="2373154"/>
              <a:ext cx="7661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系。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7700" y="2865120"/>
              <a:ext cx="4115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77250" y="2865120"/>
              <a:ext cx="36957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两类变量共同解释强化幅度与模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77250" y="3160871"/>
              <a:ext cx="126568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式迁移。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67700" y="3652838"/>
              <a:ext cx="4115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7250" y="3652838"/>
              <a:ext cx="369570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特征贡献用于解释模型，不能直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7250" y="3948589"/>
              <a:ext cx="276415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接替代组件力学推导。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45412" y="5945505"/>
              <a:ext cx="91011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SHAP揭示加载速率与板–栓相对强度的重要作用，为简化计算模型选择变量。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6789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板–栓相对强度与动力失效模式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69 / 80</a:t>
            </a:r>
          </a:p>
        </p:txBody>
      </p:sp>
      <p:grpSp>
        <p:nvGrpSpPr>
          <p:cNvPr id="49" name="reviewed-body-69"/>
          <p:cNvGrpSpPr/>
          <p:nvPr/>
        </p:nvGrpSpPr>
        <p:grpSpPr>
          <a:xfrm>
            <a:off x="228600" y="805815"/>
            <a:ext cx="11734800" cy="5505450"/>
            <a:chOff x="228600" y="805815"/>
            <a:chExt cx="1173480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905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809625"/>
              <a:ext cx="5638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31333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端板与螺栓：组件抗力竞争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9375" y="805815"/>
              <a:ext cx="31333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从组件强弱到控制失效模式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950" y="4394835"/>
              <a:ext cx="39638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93345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β：端板–螺栓相对强度参数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950" y="4888230"/>
              <a:ext cx="62605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加载速率改变两类组件的等效抗力；相对强弱随之调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950" y="5196840"/>
              <a:ext cx="41757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整，控制极限状态可能发生迁移。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1428750"/>
              <a:ext cx="1762125" cy="590550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3200" y="1453515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239125" y="1428750"/>
              <a:ext cx="3524250" cy="590550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5325" y="145351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控制特征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2019300"/>
              <a:ext cx="1762125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3200" y="2044065"/>
              <a:ext cx="1098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FM1-FF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39125" y="2019300"/>
              <a:ext cx="352425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15325" y="2044065"/>
              <a:ext cx="21777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端板塑性变形主导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609850"/>
              <a:ext cx="1762125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3200" y="2634615"/>
              <a:ext cx="1098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FM1-BR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39125" y="2609850"/>
              <a:ext cx="3524250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15325" y="2634615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端板与螺栓共同参与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77000" y="3200400"/>
              <a:ext cx="1762125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3200" y="3225165"/>
              <a:ext cx="682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FM2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239125" y="3200400"/>
              <a:ext cx="352425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15325" y="3225165"/>
              <a:ext cx="21777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螺栓断裂参与增强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3790950"/>
              <a:ext cx="1762125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3200" y="3815715"/>
              <a:ext cx="682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FM3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39125" y="3790950"/>
              <a:ext cx="3524250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15325" y="3815715"/>
              <a:ext cx="21777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本章动力样本不足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6525" y="4943475"/>
              <a:ext cx="3867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6675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模式名称与判别以论文第6章定义为准</a:t>
              </a:r>
            </a:p>
          </p:txBody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10710" y="1438275"/>
              <a:ext cx="2903181" cy="1403414"/>
            </a:xfrm>
            <a:prstGeom prst="rect">
              <a:avLst/>
            </a:prstGeom>
          </p:spPr>
        </p:pic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4287" y="3000566"/>
              <a:ext cx="1216825" cy="1006221"/>
            </a:xfrm>
            <a:prstGeom prst="rect">
              <a:avLst/>
            </a:prstGeom>
          </p:spPr>
        </p:pic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87892" y="3000566"/>
              <a:ext cx="748816" cy="1006221"/>
            </a:xfrm>
            <a:prstGeom prst="rect">
              <a:avLst/>
            </a:prstGeom>
          </p:spPr>
        </p:pic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88363" y="3000566"/>
              <a:ext cx="707074" cy="1006221"/>
            </a:xfrm>
            <a:prstGeom prst="rect">
              <a:avLst/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2444496" y="5945505"/>
              <a:ext cx="73030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组件动力强化程度不同，会改变端板与螺栓的相对强弱关系。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动力失效模式边界修正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70 / 80</a:t>
            </a:r>
          </a:p>
        </p:txBody>
      </p:sp>
      <p:grpSp>
        <p:nvGrpSpPr>
          <p:cNvPr id="34" name="reviewed-body-70"/>
          <p:cNvGrpSpPr/>
          <p:nvPr/>
        </p:nvGrpSpPr>
        <p:grpSpPr>
          <a:xfrm>
            <a:off x="228600" y="805815"/>
            <a:ext cx="11944350" cy="5505450"/>
            <a:chOff x="228600" y="805815"/>
            <a:chExt cx="1194435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781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00900" y="809625"/>
              <a:ext cx="4762500" cy="5076825"/>
            </a:xfrm>
            <a:prstGeom prst="roundRect">
              <a:avLst>
                <a:gd name="adj" fmla="val 32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28944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静力边界与动力修正边界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15200" y="805815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动力修正的物理含义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6599" y="1352550"/>
              <a:ext cx="5341977" cy="428625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400925" y="132588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10475" y="1325880"/>
              <a:ext cx="45624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板与栓的动力强化程度不同，模式边界随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10475" y="1634490"/>
              <a:ext cx="20909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加载速率移动。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00925" y="2169795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10475" y="2169795"/>
              <a:ext cx="43686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论文以对数速率修正静力4FM边界。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00925" y="268224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10475" y="2682240"/>
              <a:ext cx="45624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两条边界分别标定，修正系数约为0.118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10475" y="2990850"/>
              <a:ext cx="1543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与0.198。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0925" y="3526155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10475" y="3526155"/>
              <a:ext cx="45624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边界附近仍存在交叉样本，判据描述主体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0475" y="3834765"/>
              <a:ext cx="10485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趋势。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3375" y="5642610"/>
              <a:ext cx="37574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0008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来源：论文式(6.28)–(6.31)、图6.15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动力边界描述模式迁移的主要趋势，过渡区仍存在少量交叉样本。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分模式动力增大系数简化公式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71 / 80</a:t>
            </a:r>
          </a:p>
        </p:txBody>
      </p:sp>
      <p:grpSp>
        <p:nvGrpSpPr>
          <p:cNvPr id="41" name="reviewed-body-71"/>
          <p:cNvGrpSpPr/>
          <p:nvPr/>
        </p:nvGrpSpPr>
        <p:grpSpPr>
          <a:xfrm>
            <a:off x="266700" y="857250"/>
            <a:ext cx="11906250" cy="5454015"/>
            <a:chOff x="266700" y="857250"/>
            <a:chExt cx="11906250" cy="5454015"/>
          </a:xfrm>
        </p:grpSpPr>
        <p:sp>
          <p:nvSpPr>
            <p:cNvPr id="16" name="Rectangle 16"/>
            <p:cNvSpPr/>
            <p:nvPr/>
          </p:nvSpPr>
          <p:spPr>
            <a:xfrm>
              <a:off x="266700" y="857250"/>
              <a:ext cx="2324100" cy="762000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2900" y="882015"/>
              <a:ext cx="17000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动力失效模式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90800" y="857250"/>
              <a:ext cx="9315450" cy="762000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67000" y="882015"/>
              <a:ext cx="20153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DIFM简化表达式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6700" y="1619250"/>
              <a:ext cx="2324100" cy="762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2900" y="1644015"/>
              <a:ext cx="1098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FM1-FF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590800" y="1619250"/>
              <a:ext cx="9315450" cy="762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67000" y="1644015"/>
              <a:ext cx="48389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l-GR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 + 0.032 ln θ̇* + 0.017 β ln θ̇*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66700" y="2381250"/>
              <a:ext cx="23241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2900" y="2406015"/>
              <a:ext cx="1098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FM1-BR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90800" y="2381250"/>
              <a:ext cx="931545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667000" y="2406015"/>
              <a:ext cx="48389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l-GR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1 − 0.032 ln θ̇* + 0.209 β ln θ̇*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66700" y="3143250"/>
              <a:ext cx="2324100" cy="762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2900" y="3168015"/>
              <a:ext cx="6823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FM2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90800" y="3143250"/>
              <a:ext cx="9315450" cy="762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67000" y="3168015"/>
              <a:ext cx="48389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l-GR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1 − 0.039 ln θ̇* − 0.281 β ln θ̇*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66700" y="4124325"/>
              <a:ext cx="5572125" cy="16668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57900" y="4124325"/>
              <a:ext cx="5848350" cy="16668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8625" y="4160520"/>
              <a:ext cx="13959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变量定义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8625" y="4583430"/>
              <a:ext cx="62345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θ̇*：归一化转动速率；β：板–栓相对强度参数。具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8625" y="4892040"/>
              <a:ext cx="46969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体归一化与静力抗力取值按论文定义。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0" y="4160520"/>
              <a:ext cx="13959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使用方式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9350" y="4583430"/>
              <a:ext cx="5943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先识别动力失效模式，再调用相应表达式；准静力极限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9350" y="4892040"/>
              <a:ext cx="23254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下DIFM回归为1。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72494" y="5945505"/>
              <a:ext cx="76470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按控制失效模式选择DIF公式，保留速率项及速率–构造耦合项。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抗冲击承载力实用计算流程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72 / 80</a:t>
            </a:r>
          </a:p>
        </p:txBody>
      </p:sp>
      <p:grpSp>
        <p:nvGrpSpPr>
          <p:cNvPr id="46" name="reviewed-body-72"/>
          <p:cNvGrpSpPr/>
          <p:nvPr/>
        </p:nvGrpSpPr>
        <p:grpSpPr>
          <a:xfrm>
            <a:off x="285750" y="893445"/>
            <a:ext cx="11639550" cy="5417820"/>
            <a:chOff x="285750" y="893445"/>
            <a:chExt cx="11639550" cy="5417820"/>
          </a:xfrm>
        </p:grpSpPr>
        <p:sp>
          <p:nvSpPr>
            <p:cNvPr id="16" name="Rectangle 16"/>
            <p:cNvSpPr/>
            <p:nvPr/>
          </p:nvSpPr>
          <p:spPr>
            <a:xfrm>
              <a:off x="285750" y="904875"/>
              <a:ext cx="3733800" cy="1952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5750" y="904875"/>
              <a:ext cx="3733800" cy="409575"/>
            </a:xfrm>
            <a:prstGeom prst="rect">
              <a:avLst/>
            </a:prstGeom>
            <a:solidFill>
              <a:srgbClr val="B6282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9100" y="893445"/>
              <a:ext cx="216954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8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 构造与材料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7675" y="1543050"/>
              <a:ext cx="29813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端板、螺栓、几何参数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29075" y="1733550"/>
              <a:ext cx="4241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B6282D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238625" y="904875"/>
              <a:ext cx="3733800" cy="1952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38625" y="904875"/>
              <a:ext cx="3733800" cy="409575"/>
            </a:xfrm>
            <a:prstGeom prst="rect">
              <a:avLst/>
            </a:prstGeom>
            <a:solidFill>
              <a:srgbClr val="B6282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71975" y="893445"/>
              <a:ext cx="18872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8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 静力基准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00550" y="1543050"/>
              <a:ext cx="349710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计算Mu,s与板–栓相对强度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81950" y="1733550"/>
              <a:ext cx="4241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B6282D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91500" y="904875"/>
              <a:ext cx="3733800" cy="1952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91500" y="904875"/>
              <a:ext cx="3733800" cy="409575"/>
            </a:xfrm>
            <a:prstGeom prst="rect">
              <a:avLst/>
            </a:prstGeom>
            <a:solidFill>
              <a:srgbClr val="B6282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24850" y="893445"/>
              <a:ext cx="18872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8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 加载速率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53425" y="1543050"/>
              <a:ext cx="27098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确定归一化转动速率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85750" y="3238500"/>
              <a:ext cx="3733800" cy="1952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5750" y="3238500"/>
              <a:ext cx="3733800" cy="409575"/>
            </a:xfrm>
            <a:prstGeom prst="rect">
              <a:avLst/>
            </a:prstGeom>
            <a:solidFill>
              <a:srgbClr val="B6282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100" y="3227070"/>
              <a:ext cx="18872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 模式识别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7675" y="3876675"/>
              <a:ext cx="29813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采用动力修正模式判据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29075" y="4067175"/>
              <a:ext cx="4241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B6282D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238625" y="3238500"/>
              <a:ext cx="3733800" cy="1952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38625" y="3238500"/>
              <a:ext cx="3733800" cy="409575"/>
            </a:xfrm>
            <a:prstGeom prst="rect">
              <a:avLst/>
            </a:prstGeom>
            <a:solidFill>
              <a:srgbClr val="B6282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71975" y="3227070"/>
              <a:ext cx="2451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 动力增大系数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00550" y="3876675"/>
              <a:ext cx="29813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选用相应失效模式公式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81950" y="4067175"/>
              <a:ext cx="4241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B6282D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91500" y="3238500"/>
              <a:ext cx="3733800" cy="1952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91500" y="3238500"/>
              <a:ext cx="3733800" cy="409575"/>
            </a:xfrm>
            <a:prstGeom prst="rect">
              <a:avLst/>
            </a:prstGeom>
            <a:solidFill>
              <a:srgbClr val="B6282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24850" y="3227070"/>
              <a:ext cx="216954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6677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 动力承载力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3425" y="3876675"/>
              <a:ext cx="310076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3344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Mu,d = DIFM × Mu,s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61950" y="5547360"/>
              <a:ext cx="850830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6676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在适用参数范围内，逐项保持组件抗力、模式编号与归一化速率定义一致。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62684" y="5945505"/>
              <a:ext cx="88666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以静力承载力为基准，通过模式识别与分模式动力修正得到动力峰值弯矩。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独立节点样本验证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73 / 80</a:t>
            </a:r>
          </a:p>
        </p:txBody>
      </p:sp>
      <p:grpSp>
        <p:nvGrpSpPr>
          <p:cNvPr id="28" name="reviewed-body-73"/>
          <p:cNvGrpSpPr/>
          <p:nvPr/>
        </p:nvGrpSpPr>
        <p:grpSpPr>
          <a:xfrm>
            <a:off x="228600" y="805815"/>
            <a:ext cx="11734800" cy="5505450"/>
            <a:chOff x="228600" y="805815"/>
            <a:chExt cx="1173480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5245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43600" y="809625"/>
              <a:ext cx="60198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21777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动力失效模式识别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57900" y="805815"/>
              <a:ext cx="28944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完整方法：动力峰值弯矩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7091" y="1304925"/>
              <a:ext cx="4314168" cy="338137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70092" y="1304925"/>
              <a:ext cx="3985867" cy="338137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600075" y="4762500"/>
              <a:ext cx="152628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1333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93.3%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075" y="5305425"/>
              <a:ext cx="26555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6675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独立样本模式识别准确率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8425" y="4762500"/>
              <a:ext cx="278587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133350" rIns="0" bIns="0" anchor="t" anchorCtr="0">
              <a:noAutofit/>
            </a:bodyPr>
            <a:lstStyle/>
            <a:p>
              <a:pPr algn="l"/>
              <a:r>
                <a:rPr lang="en-US" sz="3000" b="1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R² = 0.910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8425" y="5305425"/>
              <a:ext cx="20735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6675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完整流程Mu,d预测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3375" y="5619750"/>
              <a:ext cx="66341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66675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独立验证：15种构造、75个动力样本；独立性基于节点构造分组。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36676" y="5945505"/>
              <a:ext cx="73186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完整方法在独立节点样本上的动力峰值弯矩预测R²为0.910。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计算方法适用范围与误差来源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74 / 80</a:t>
            </a:r>
          </a:p>
        </p:txBody>
      </p:sp>
      <p:grpSp>
        <p:nvGrpSpPr>
          <p:cNvPr id="50" name="reviewed-body-74"/>
          <p:cNvGrpSpPr/>
          <p:nvPr/>
        </p:nvGrpSpPr>
        <p:grpSpPr>
          <a:xfrm>
            <a:off x="228600" y="809625"/>
            <a:ext cx="11944350" cy="5501640"/>
            <a:chOff x="228600" y="809625"/>
            <a:chExt cx="11944350" cy="550164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607695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96050" y="809625"/>
              <a:ext cx="546735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7650" y="876300"/>
              <a:ext cx="2476500" cy="7334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3850" y="90106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适用变量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724150" y="876300"/>
              <a:ext cx="3819525" cy="733425"/>
            </a:xfrm>
            <a:prstGeom prst="rect">
              <a:avLst/>
            </a:prstGeom>
            <a:solidFill>
              <a:srgbClr val="B6282D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00350" y="901065"/>
              <a:ext cx="17000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本章研究范围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47650" y="1609725"/>
              <a:ext cx="2476500" cy="7334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850" y="163449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端板厚度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724150" y="1609725"/>
              <a:ext cx="3819525" cy="7334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00350" y="1634490"/>
              <a:ext cx="12365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5–16 mm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47650" y="2343150"/>
              <a:ext cx="2476500" cy="733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3850" y="236791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螺栓直径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724150" y="2343150"/>
              <a:ext cx="3819525" cy="733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00350" y="2367915"/>
              <a:ext cx="13751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16–30 mm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47650" y="3076575"/>
              <a:ext cx="2476500" cy="7334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3850" y="310134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螺栓强度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724150" y="3076575"/>
              <a:ext cx="3819525" cy="7334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00350" y="3101340"/>
              <a:ext cx="19293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800–1200 MPa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" y="3810000"/>
              <a:ext cx="2476500" cy="733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23850" y="3834765"/>
              <a:ext cx="17000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节点转动速率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24150" y="3810000"/>
              <a:ext cx="3819525" cy="733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800350" y="3834765"/>
              <a:ext cx="17907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10–50 rad/s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29400" y="862965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误差传递与使用边界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5600" y="138303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15150" y="1383030"/>
              <a:ext cx="5257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边界附近的模式误判会改变所调用的DIFM公式。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5600" y="2284095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15150" y="2284095"/>
              <a:ext cx="5257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FM1-BR过渡样本应重点检查板–栓竞争关系。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5600" y="2853690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15150" y="2853690"/>
              <a:ext cx="5257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FM3缺少有效动力样本，不能据此声称已验证。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5600" y="3423285"/>
              <a:ext cx="4178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15150" y="3423285"/>
              <a:ext cx="5257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独立验证来自有限元构造分组，尚需外部试验验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15150" y="3731895"/>
              <a:ext cx="7879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8001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证。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5600" y="5273040"/>
              <a:ext cx="53358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模式识别误差 → 公式切换 → DIF与承载力偏差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83892" y="5945505"/>
              <a:ext cx="78242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模式边界附近的识别误差，是完整计算流程不确定性的重要来源。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75 / 80</a:t>
            </a:r>
          </a:p>
        </p:txBody>
      </p:sp>
    </p:spTree>
  </p:cSld>
  <p:clrMapOvr>
    <a:masterClrMapping/>
  </p:clrMapOvr>
  <p:transition dur="400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主要研究成果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76 / 80</a:t>
            </a:r>
          </a:p>
        </p:txBody>
      </p:sp>
      <p:grpSp>
        <p:nvGrpSpPr>
          <p:cNvPr id="41" name="reviewed-body-76"/>
          <p:cNvGrpSpPr/>
          <p:nvPr/>
        </p:nvGrpSpPr>
        <p:grpSpPr>
          <a:xfrm>
            <a:off x="228600" y="805815"/>
            <a:ext cx="11944350" cy="5505450"/>
            <a:chOff x="228600" y="805815"/>
            <a:chExt cx="1194435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57531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72200" y="809625"/>
              <a:ext cx="5791200" cy="5076825"/>
            </a:xfrm>
            <a:prstGeom prst="roundRect">
              <a:avLst>
                <a:gd name="adj" fmla="val 300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5750" y="805815"/>
              <a:ext cx="21777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材料动态本构模型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6975" y="805815"/>
              <a:ext cx="2655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材料耦合动态断裂模型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91098" y="1266825"/>
              <a:ext cx="2504278" cy="2152650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98178" y="1266825"/>
              <a:ext cx="4567818" cy="21526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333375" y="3510915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2925" y="3510915"/>
              <a:ext cx="62914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三参数SD-DIF描述动态强化随塑性应变的发展，较C-S、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2925" y="3793808"/>
              <a:ext cx="40411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J-C模型预测精度提高约24%–62%。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3375" y="423291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2925" y="4232910"/>
              <a:ext cx="59904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多钢种屈服、极限及平均DIF预测RMSE分别为5.60%、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2925" y="4515802"/>
              <a:ext cx="21300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4.38%、4.70%。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3375" y="4954905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2925" y="4954905"/>
              <a:ext cx="6238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微观上表现为位错增殖、晶粒演化与织构强化的竞争和协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2925" y="5237798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同。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24600" y="3510915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24600" y="4232910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24600" y="4954905"/>
              <a:ext cx="4052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C00000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1174" y="5945505"/>
              <a:ext cx="101696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材料研究将宏观动力响应与微观机制联系起来，为节点动力分析提供本构与断裂输入。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4150" y="3510915"/>
              <a:ext cx="56388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拉伸主导与剪切主导状态分别呈正、负应变率效应，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34150" y="3777615"/>
              <a:ext cx="31333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断裂延性受应力状态调节。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4150" y="4232910"/>
              <a:ext cx="50109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六参数CD-LMVGM结合LMVGM与耦合DFFS项，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34150" y="4499610"/>
              <a:ext cx="27845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Q355钢RMSE为7.45%。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34150" y="4954905"/>
              <a:ext cx="50731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六材料平均RMSE为6.77%，正文方差0.55‰；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34150" y="5221605"/>
              <a:ext cx="37401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经典J-C分别为14.9%、5.18‰。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主要研究成果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77 / 80</a:t>
            </a:r>
          </a:p>
        </p:txBody>
      </p:sp>
      <p:grpSp>
        <p:nvGrpSpPr>
          <p:cNvPr id="41" name="reviewed-body-77"/>
          <p:cNvGrpSpPr/>
          <p:nvPr/>
        </p:nvGrpSpPr>
        <p:grpSpPr>
          <a:xfrm>
            <a:off x="228600" y="805815"/>
            <a:ext cx="11944350" cy="5505450"/>
            <a:chOff x="228600" y="805815"/>
            <a:chExt cx="11944350" cy="5505450"/>
          </a:xfrm>
        </p:grpSpPr>
        <p:sp>
          <p:nvSpPr>
            <p:cNvPr id="16" name="Rectangle 16"/>
            <p:cNvSpPr/>
            <p:nvPr/>
          </p:nvSpPr>
          <p:spPr>
            <a:xfrm>
              <a:off x="228600" y="809625"/>
              <a:ext cx="3781425" cy="5076825"/>
            </a:xfrm>
            <a:prstGeom prst="roundRect">
              <a:avLst>
                <a:gd name="adj" fmla="val 403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00525" y="809625"/>
              <a:ext cx="3781425" cy="5076825"/>
            </a:xfrm>
            <a:prstGeom prst="roundRect">
              <a:avLst>
                <a:gd name="adj" fmla="val 403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172450" y="809625"/>
              <a:ext cx="3790950" cy="5076825"/>
            </a:xfrm>
            <a:prstGeom prst="roundRect">
              <a:avLst>
                <a:gd name="adj" fmla="val 402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5750" y="80581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节点试验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5750" y="1780512"/>
              <a:ext cx="3609975" cy="1096701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323850" y="3491865"/>
              <a:ext cx="4088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完成端板、角钢及栓焊混合三类节点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3850" y="3774758"/>
              <a:ext cx="4088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的静力与高速冲击试验；以冲击力、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850" y="4057650"/>
              <a:ext cx="3850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支反力、加速度和位移验证动力平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850" y="4340542"/>
              <a:ext cx="42274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衡，重构弯矩–转角关系。峰值弯矩相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850" y="4623435"/>
              <a:ext cx="41414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对各自静力提高约23%、18%、16%。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6250" y="80581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响应机理</a:t>
              </a:r>
            </a:p>
          </p:txBody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86250" y="1545526"/>
              <a:ext cx="3609975" cy="1566673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4324350" y="3491865"/>
              <a:ext cx="4088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建立并验证三维显式动力模型，采用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4350" y="3774758"/>
              <a:ext cx="43564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SD-DIF和CD-LMVGM。冲击初期材料强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24350" y="4057650"/>
              <a:ext cx="4088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化与局部惯性共同提高瞬时抗力；随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24350" y="4340542"/>
              <a:ext cx="4088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后能量转向塑性耗能、裂纹扩展和残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24350" y="462343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余运动。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6750" y="805815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实用计算</a:t>
              </a:r>
            </a:p>
          </p:txBody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39839" y="1266825"/>
              <a:ext cx="2503798" cy="2124075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8324850" y="3491865"/>
              <a:ext cx="3848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构建77组构造、462个样本数据库；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4850" y="3774758"/>
              <a:ext cx="3848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识别板–栓相对强度与转动速率两个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4850" y="4057650"/>
              <a:ext cx="3848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关键变量。基于4FM提出动力模式判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4850" y="4340542"/>
              <a:ext cx="3848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据及分模式DIF公式；独立模式准确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4850" y="4623435"/>
              <a:ext cx="3848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率93.3%，Mu,d预测R²为0.910。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32382" y="5945505"/>
              <a:ext cx="91272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节点试验、机理分析与分模式计算共同形成由材料到连接承载力的研究链条。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78 / 80</a:t>
            </a:r>
          </a:p>
        </p:txBody>
      </p:sp>
      <p:grpSp>
        <p:nvGrpSpPr>
          <p:cNvPr id="42" name="reviewed-body-78"/>
          <p:cNvGrpSpPr/>
          <p:nvPr/>
        </p:nvGrpSpPr>
        <p:grpSpPr>
          <a:xfrm>
            <a:off x="190500" y="796290"/>
            <a:ext cx="11982450" cy="5514975"/>
            <a:chOff x="190500" y="796290"/>
            <a:chExt cx="11982450" cy="5514975"/>
          </a:xfrm>
        </p:grpSpPr>
        <p:sp>
          <p:nvSpPr>
            <p:cNvPr id="16" name="Rectangle 16"/>
            <p:cNvSpPr/>
            <p:nvPr/>
          </p:nvSpPr>
          <p:spPr>
            <a:xfrm>
              <a:off x="190500" y="809625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91250" y="809625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0500" y="3390900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91250" y="3390900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5750" y="796290"/>
              <a:ext cx="14611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材料与组件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7650" y="1543074"/>
              <a:ext cx="1714500" cy="1323927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2085975" y="1272540"/>
              <a:ext cx="44042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模型主要基于Q355钢母材，高强螺栓、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5975" y="1555432"/>
              <a:ext cx="43277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焊缝、热影响区及其他强度等级材料仍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85975" y="1838325"/>
              <a:ext cx="19389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需更充分研究。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86500" y="796290"/>
              <a:ext cx="19389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试验工况与边界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48400" y="1803559"/>
              <a:ext cx="1714500" cy="802958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8086725" y="1272540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冲击质量、速度、边界与子结构形式覆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86725" y="1555432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盖有限；柱轴力、楼板组合效应、空间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86725" y="1838325"/>
              <a:ext cx="36111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约束和多种冲击输入尚需补充。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750" y="3377565"/>
              <a:ext cx="21777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数据库与适用范围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7650" y="4098479"/>
              <a:ext cx="1714500" cy="1375666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2085975" y="3853815"/>
              <a:ext cx="34868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现有范围为端板5–16mm、螺栓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85975" y="4136708"/>
              <a:ext cx="46717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M16–M30、强度800–1200MPa、转动速率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85975" y="4419600"/>
              <a:ext cx="45188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10–50rad/s；母材强度、端板尺寸及节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85975" y="4702492"/>
              <a:ext cx="2655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点尺度变化仍需验证。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86500" y="3377565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多类节点与整体体系</a:t>
              </a:r>
            </a:p>
          </p:txBody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11511" y="3838575"/>
              <a:ext cx="1388278" cy="1895475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8086725" y="3853815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计算方法主要针对端板节点，尚未覆盖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6725" y="4136708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角钢、栓焊混合节点及整体钢框架抗冲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6725" y="4419600"/>
              <a:ext cx="12222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击评价。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32382" y="5945505"/>
              <a:ext cx="91272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研究结论受材料、连接类型与加载范围约束，边界样本与复杂工况仍需补充。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8966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展望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79 / 80</a:t>
            </a:r>
          </a:p>
        </p:txBody>
      </p:sp>
      <p:grpSp>
        <p:nvGrpSpPr>
          <p:cNvPr id="42" name="reviewed-body-79"/>
          <p:cNvGrpSpPr/>
          <p:nvPr/>
        </p:nvGrpSpPr>
        <p:grpSpPr>
          <a:xfrm>
            <a:off x="190500" y="796290"/>
            <a:ext cx="11982450" cy="5514975"/>
            <a:chOff x="190500" y="796290"/>
            <a:chExt cx="11982450" cy="5514975"/>
          </a:xfrm>
        </p:grpSpPr>
        <p:sp>
          <p:nvSpPr>
            <p:cNvPr id="16" name="Rectangle 16"/>
            <p:cNvSpPr/>
            <p:nvPr/>
          </p:nvSpPr>
          <p:spPr>
            <a:xfrm>
              <a:off x="190500" y="809625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91250" y="809625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0500" y="3390900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91250" y="3390900"/>
              <a:ext cx="5791200" cy="2419350"/>
            </a:xfrm>
            <a:prstGeom prst="roundRect">
              <a:avLst>
                <a:gd name="adj" fmla="val 6299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5750" y="796290"/>
              <a:ext cx="14611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材料与组件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7650" y="1543074"/>
              <a:ext cx="1714500" cy="1323927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2085975" y="1272540"/>
              <a:ext cx="43277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开展螺栓、焊缝、热影响区及不同强度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5975" y="1555432"/>
              <a:ext cx="43277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等级钢材的宽应变率试验，建立关键组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85975" y="1838325"/>
              <a:ext cx="28944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件动态本构与断裂模型。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86500" y="796290"/>
              <a:ext cx="19389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试验工况与边界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48400" y="1803559"/>
              <a:ext cx="1714500" cy="802958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8086725" y="1272540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拓展冲击质量、速度、位置、柱轴力、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86725" y="1555432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楼板和空间约束条件，明确冲击速度、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86725" y="1838325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节点转动速率与局部应变率之间的关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86725" y="2121218"/>
              <a:ext cx="74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3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联。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5750" y="3377565"/>
              <a:ext cx="21777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数据库与适用范围</a:t>
              </a:r>
            </a:p>
          </p:txBody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7650" y="4098479"/>
              <a:ext cx="1714500" cy="1375666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2085975" y="3853815"/>
              <a:ext cx="43277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增加构造、材料、尺度与速率样本，修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85975" y="4136708"/>
              <a:ext cx="4504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正模式边界与DIF公式，并补充外部试验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85975" y="4419600"/>
              <a:ext cx="33722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验证，提高方法的泛化能力。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86500" y="3377565"/>
              <a:ext cx="24166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多类节点与整体体系</a:t>
              </a:r>
            </a:p>
          </p:txBody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11511" y="3838575"/>
              <a:ext cx="1388278" cy="1895475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8086725" y="3853815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将端板节点框架拓展到角钢与栓焊混合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6725" y="4136708"/>
              <a:ext cx="4086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连接，建立多类节点及整体框架抗冲击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6725" y="4419600"/>
              <a:ext cx="33722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9050" tIns="7334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设计方法，服务性能化设计。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32382" y="5945505"/>
              <a:ext cx="91272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001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后续应扩展试验数据库、复杂荷载路径和构件尺度验证，完善工程适用边界。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270742" y="2653665"/>
            <a:ext cx="565051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感谢各位专家的宝贵时间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70793" y="3268028"/>
            <a:ext cx="4450413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恳请批评指正！</a:t>
            </a:r>
          </a:p>
        </p:txBody>
      </p:sp>
    </p:spTree>
  </p:cSld>
  <p:clrMapOvr>
    <a:masterClrMapping/>
  </p:clrMapOvr>
  <p:transition dur="400">
    <p:fade/>
  </p:transition>
</p:sld>
</file>

<file path=ppt/theme/notesRepair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