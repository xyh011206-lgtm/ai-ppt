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3.xml"/>
</Relationships>
</file>

<file path=ppt/notesSlides/_rels/notesSlide2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4.xml"/>
</Relationships>
</file>

<file path=ppt/notesSlides/_rels/notesSlide2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5.xml"/>
</Relationships>
</file>

<file path=ppt/notesSlides/_rels/notesSlide2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6.xml"/>
</Relationships>
</file>

<file path=ppt/notesSlides/_rels/notesSlide2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7.xml"/>
</Relationships>
</file>

<file path=ppt/notesSlides/_rels/notesSlide2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8.xml"/>
</Relationships>
</file>

<file path=ppt/notesSlides/_rels/notesSlide2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9.xml"/>
</Relationships>
</file>

<file path=ppt/notesSlides/_rels/notesSlide3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0.xml"/>
</Relationships>
</file>

<file path=ppt/notesSlides/_rels/notesSlide3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1.xml"/>
</Relationships>
</file>

<file path=ppt/notesSlides/_rels/notesSlide3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2.xml"/>
</Relationships>
</file>

<file path=ppt/notesSlides/_rels/notesSlide3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3.xml"/>
</Relationships>
</file>

<file path=ppt/notesSlides/_rels/notesSlide3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4.xml"/>
</Relationships>
</file>

<file path=ppt/notesSlides/_rels/notesSlide3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5.xml"/>
</Relationships>
</file>

<file path=ppt/notesSlides/_rels/notesSlide3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6.xml"/>
</Relationships>
</file>

<file path=ppt/notesSlides/_rels/notesSlide3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7.xml"/>
</Relationships>
</file>

<file path=ppt/notesSlides/_rels/notesSlide3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8.xml"/>
</Relationships>
</file>

<file path=ppt/notesSlides/_rels/notesSlide3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9.xml"/>
</Relationships>
</file>

<file path=ppt/notesSlides/_rels/notesSlide4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0.xml"/>
</Relationships>
</file>

<file path=ppt/notesSlides/_rels/notesSlide4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1.xml"/>
</Relationships>
</file>

<file path=ppt/notesSlides/_rels/notesSlide4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2.xml"/>
</Relationships>
</file>

<file path=ppt/notesSlides/_rels/notesSlide4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3.xml"/>
</Relationships>
</file>

<file path=ppt/notesSlides/_rels/notesSlide4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4.xml"/>
</Relationships>
</file>

<file path=ppt/notesSlides/_rels/notesSlide4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5.xml"/>
</Relationships>
</file>

<file path=ppt/notesSlides/_rels/notesSlide4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6.xml"/>
</Relationships>
</file>

<file path=ppt/notesSlides/_rels/notesSlide4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7.xml"/>
</Relationships>
</file>

<file path=ppt/notesSlides/_rels/notesSlide4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8.xml"/>
</Relationships>
</file>

<file path=ppt/notesSlides/_rels/notesSlide4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9.xml"/>
</Relationships>
</file>

<file path=ppt/notesSlides/_rels/notesSlide5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0.xml"/>
</Relationships>
</file>

<file path=ppt/notesSlides/_rels/notesSlide5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1.xml"/>
</Relationships>
</file>

<file path=ppt/notesSlides/_rels/notesSlide5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2.xml"/>
</Relationships>
</file>

<file path=ppt/notesSlides/_rels/notesSlide5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3.xml"/>
</Relationships>
</file>

<file path=ppt/notesSlides/_rels/notesSlide5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4.xml"/>
</Relationships>
</file>

<file path=ppt/notesSlides/_rels/notesSlide5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5.xml"/>
</Relationships>
</file>

<file path=ppt/notesSlides/_rels/notesSlide5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6.xml"/>
</Relationships>
</file>

<file path=ppt/notesSlides/_rels/notesSlide5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7.xml"/>
</Relationships>
</file>

<file path=ppt/notesSlides/_rels/notesSlide5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8.xml"/>
</Relationships>
</file>

<file path=ppt/notesSlides/_rels/notesSlide5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9.xml"/>
</Relationships>
</file>

<file path=ppt/notesSlides/_rels/notesSlide6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0.xml"/>
</Relationships>
</file>

<file path=ppt/notesSlides/_rels/notesSlide6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1.xml"/>
</Relationships>
</file>

<file path=ppt/notesSlides/_rels/notesSlide6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2.xml"/>
</Relationships>
</file>

<file path=ppt/notesSlides/_rels/notesSlide6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3.xml"/>
</Relationships>
</file>

<file path=ppt/notesSlides/_rels/notesSlide6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4.xml"/>
</Relationships>
</file>

<file path=ppt/notesSlides/_rels/notesSlide6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5.xml"/>
</Relationships>
</file>

<file path=ppt/notesSlides/_rels/notesSlide6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6.xml"/>
</Relationships>
</file>

<file path=ppt/notesSlides/_rels/notesSlide6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7.xml"/>
</Relationships>
</file>

<file path=ppt/notesSlides/_rels/notesSlide6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8.xml"/>
</Relationships>
</file>

<file path=ppt/notesSlides/_rels/notesSlide6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9.xml"/>
</Relationships>
</file>

<file path=ppt/notesSlides/_rels/notesSlide7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0.xml"/>
</Relationships>
</file>

<file path=ppt/notesSlides/_rels/notesSlide7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1.xml"/>
</Relationships>
</file>

<file path=ppt/notesSlides/_rels/notesSlide7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2.xml"/>
</Relationships>
</file>

<file path=ppt/notesSlides/_rels/notesSlide7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3.xml"/>
</Relationships>
</file>

<file path=ppt/notesSlides/_rels/notesSlide7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4.xml"/>
</Relationships>
</file>

<file path=ppt/notesSlides/_rels/notesSlide7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5.xml"/>
</Relationships>
</file>

<file path=ppt/notesSlides/_rels/notesSlide7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6.xml"/>
</Relationships>
</file>

<file path=ppt/notesSlides/_rels/notesSlide7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7.xml"/>
</Relationships>
</file>

<file path=ppt/notesSlides/_rels/notesSlide7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8.xml"/>
</Relationships>
</file>

<file path=ppt/notesSlides/_rels/notesSlide7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9.xml"/>
</Relationships>
</file>

<file path=ppt/notesSlides/_rels/notesSlide8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各位专家好，我是魏叶云，汇报题目是《高应变率下钢框架梁柱节点力学性能研究》。下面按照原稿的七章安排，汇报材料模型、节点试验、动力响应机理和实用计算方法。</a:t>
            </a:r>
          </a:p>
          <a:p>
            <a:endParaRPr lang="zh-CN" dirty="0"/>
          </a:p>
          <a:p>
            <a:r>
              <a:rPr lang="zh-CN" dirty="0"/>
              <a:t>来源与核对：原答辩稿PDF第1页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这一部分保持原稿的研究安排。汇报共分七章，依次介绍绪论、材料强化模型、动态断裂模型、节点动力试验、响应机理、承载力计算及结论展望。</a:t>
            </a:r>
          </a:p>
          <a:p>
            <a:endParaRPr lang="zh-CN" dirty="0"/>
          </a:p>
          <a:p>
            <a:r>
              <a:rPr lang="zh-CN" dirty="0"/>
              <a:t>来源与核对：原答辩稿PDF第2页</a:t>
            </a:r>
          </a:p>
          <a:p>
            <a:r>
              <a:rPr lang="zh-CN" dirty="0"/>
              <a:t>建议讲述时间：10–15秒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这一部分保持原稿的研究安排。先介绍研究背景、现有工作的不足及研究路线。</a:t>
            </a:r>
          </a:p>
          <a:p>
            <a:endParaRPr lang="zh-CN" dirty="0"/>
          </a:p>
          <a:p>
            <a:r>
              <a:rPr lang="zh-CN" dirty="0"/>
              <a:t>来源与核对：原答辩稿PDF第3页</a:t>
            </a:r>
          </a:p>
          <a:p>
            <a:r>
              <a:rPr lang="zh-CN" dirty="0"/>
              <a:t>建议讲述时间：10–15秒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研究背景。请先看图中的试验对象、比较工况与坐标定义，再结合曲线变化或局部破坏位置判断结果。爆炸与冲击作用下，钢材的速率效应与节点的瞬态响应共同影响结构安全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来源与核对：原答辩稿PDF第4页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本页重点说明研究背景。请先看图中的试验对象、比较工况与坐标定义，再结合曲线变化或局部破坏位置判断结果。节点抗冲击性能需要同时考虑材料应变率效应和结构惯性作用。 原稿对应证据包括：节点：动力效应（材料应变率效应+结构惯性效应）。讲述时突出主要比较结果，区分本页观察与后续模型推论。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来源与核对：原答辩稿PDF第5页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研究现状与不足。请先看图中的试验对象、比较工况与坐标定义，再结合曲线变化或局部破坏位置判断结果。宽应变率范围与多应力状态试验，是建立节点动力材料输入的基础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来源与核对：原答辩稿PDF第6页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研究现状与不足。请先看图中的试验对象、比较工况与坐标定义，再结合曲线变化或局部破坏位置判断结果。现有本构模型难以统一描述强化幅度随塑性应变发展的变化规律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来源与核对：原答辩稿PDF第7页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研究现状与不足。请先看图中的试验对象、比较工况与坐标定义，再结合曲线变化或局部破坏位置判断结果。动态断裂预测应同时描述应力状态、应变率及二者的耦合作用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来源与核对：原答辩稿PDF第8页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研究现状与不足。请先看图中的试验对象、比较工况与坐标定义，再结合曲线变化或局部破坏位置判断结果。节点冲击试验需要明确边界约束，避免将不同受力机制直接比较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来源与核对：原答辩稿PDF第9页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研究现状与不足。请先看图中的试验对象、比较工况与坐标定义，再结合曲线变化或局部破坏位置判断结果。数值分析应在材料、响应时程和破坏模式三个层面完成验证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来源与核对：原答辩稿PDF第10页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研究现状与不足。请先看图中的试验对象、比较工况与坐标定义，再结合曲线变化或局部破坏位置判断结果。组件理论为承载力简化提供基础，动力强化和模式迁移仍需修正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来源与核对：原答辩稿PDF第11页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本页重点说明研究路线与研究内容。请先看图中的试验对象、比较工况与坐标定义，再结合曲线变化或局部破坏位置判断结果。按照材料模型、节点试验、动力机理和实用计算的顺序，形成逐层验证的研究路线。 原稿对应证据包括：应变和应力状态的耦合效应考虑不足，且缺乏微；加载速率有限；动态响应机理尚不明晰；动力抗；建立Q355钢耦合动态本构与断裂模型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来源与核对：原答辩稿PDF第12页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这一部分保持原稿的研究安排。下面进入2章，结合前面结果，说明本章的研究方法、关键证据与主要结论。</a:t>
            </a:r>
          </a:p>
          <a:p>
            <a:endParaRPr lang="zh-CN" dirty="0"/>
          </a:p>
          <a:p>
            <a:r>
              <a:rPr lang="zh-CN" dirty="0"/>
              <a:t>来源与核对：原答辩稿PDF第13页</a:t>
            </a:r>
          </a:p>
          <a:p>
            <a:r>
              <a:rPr lang="zh-CN" dirty="0"/>
              <a:t>建议讲述时间：10–15秒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宏观动力材性试验。请先看图中的试验对象、比较工况与坐标定义，再结合曲线变化或局部破坏位置判断结果。多设备协同覆盖准静力到高速加载范围，获得Q355钢的全过程动力响应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来源与核对：原答辩稿PDF第14页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本页重点说明宏观动力材性试验。请先看图中的试验对象、比较工况与坐标定义，再结合曲线变化或局部破坏位置判断结果。五种目标应变率与六类应力状态共同构成材料试验矩阵。 原稿对应证据包括：6种应力状态：轴对称单轴拉伸(A)、多轴拉伸(B、C)、纯剪切(D)、拉-剪复合(E)、平面应变多轴拉伸(F)。讲述时突出主要比较结果，区分本页观察与后续模型推论。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来源与核对：原答辩稿PDF第15页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宏观动力材性试验结果。请先看图中的试验对象、比较工况与坐标定义，再结合曲线变化或局部破坏位置判断结果。材料强度随应变率提高而增大，其强化幅度随变形发展发生变化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来源与核对：原答辩稿PDF第16页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本页重点说明微观组织表征方法。请先看图中的试验对象、比较工况与坐标定义，再结合曲线变化或局部破坏位置判断结果。通过SEM与EBSD，将宏观应力–应变响应与微观组织演化对应起来。 原稿对应证据包括：自动金相磨抛机)、抛光(机械抛光；振动抛光，Vibrotech 300振动抛光机)。讲述时突出主要比较结果，区分本页观察与后续模型推论。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来源与核对：原答辩稿PDF第17页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本页重点说明塑性变形机制。请先看图中的试验对象、比较工况与坐标定义，再结合曲线变化或局部破坏位置判断结果。位错、晶粒与织构的演化为塑性变形机制分析提供了微观证据。 原稿对应证据包括：多晶体塑性的变形：晶内变形：位错运动（滑移、孪生）；晶间变形：克服晶界阻力（晶粒尺寸）和晶粒间协调变形（滑移系启动）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来源与核对：原答辩稿PDF第18页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本页重点说明应变率效应。请先看图中的试验对象、比较工况与坐标定义，再结合曲线变化或局部破坏位置判断结果。宏观强化与微观组织演化相互对应，应变率效应具有明确的材料机制。 原稿对应证据包括：强度的宏观效应：应变率强化效应：应变率增加，强度提高；应变硬化效应：应变增加，强度提高；随应变发展，晶粒尺寸降低；随应变率提高，晶粒尺寸增加，晶粒细化可提高强度；随应变发展和应变率提高，&lt;110&gt;丝织构组分（bcc拉拔织构）增加，提高强度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来源与核对：原答辩稿PDF第19页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本页重点说明应变率效应的应变依赖性。请先看图中的试验对象、比较工况与坐标定义，再结合曲线变化或局部破坏位置判断结果。DIF随真应变发展而变化，采用单一常数难以描述全过程强化效应。 原稿对应证据包括：微观效应指标 (χ) 等效于宏观的DIF，且两者的值接近 → 指标χ的可靠性；应变率效应与应变硬化耦合：应变增加，DIF值（宏观）和χ值（微观）减小，即，应变率效应降低。讲述时突出主要比较结果，区分本页观察与后续模型推论。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来源与核对：原答辩稿PDF第20页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本页重点说明应变依赖的动力增大系数SD-DIF。请先看图中的试验对象、比较工况与坐标定义，再结合曲线变化或局部破坏位置判断结果。以应变与应变率为共同变量，构造具有应变依赖性的动力增大系数。 原稿对应证据包括：宏观的DIF与微观的χ值均与应变呈指数函数关系；全过程DIF模型：耦合应变率与应变。讲述时突出主要比较结果，区分本页观察与后续模型推论。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来源与核对：原答辩稿PDF第21页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本页重点说明应变依赖的动力增大系数SD-DIF。请先看图中的试验对象、比较工况与坐标定义，再结合曲线变化或局部破坏位置判断结果。SD-DIF用三个独立参数描述强化幅度及其随应变发展的衰减规律。 原稿对应证据包括：应变率效应与应变硬化效应耦合：应变率效应（DIF）随塑性应变增加而降低；应变率效应（DIF）与应变呈指数函数关系；SD-DIF模型：耦合应变率与应变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来源与核对：原答辩稿PDF第22页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本页重点说明SD-DIF精度验证。请先看图中的试验对象、比较工况与坐标定义，再结合曲线变化或局部破坏位置判断结果。跨材料对比验证表明，SD-DIF能够兼顾屈服、极限和全过程强化的预测。 原稿对应证据包括：对于多种材料：Q235钢、Q355钢、Q460钢、S690钢、S960钢；相比传统非耦合模型：C-S、J-C、Z-A，本模型表现出一致的高拟合精度。讲述时突出主要比较结果，区分本页观察与后续模型推论。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来源与核对：原答辩稿PDF第23页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这一部分保持原稿的研究安排。下面进入3章，结合前面结果，说明本章的研究方法、关键证据与主要结论。</a:t>
            </a:r>
          </a:p>
          <a:p>
            <a:endParaRPr lang="zh-CN" dirty="0"/>
          </a:p>
          <a:p>
            <a:r>
              <a:rPr lang="zh-CN" dirty="0"/>
              <a:t>来源与核对：原答辩稿PDF第24页</a:t>
            </a:r>
          </a:p>
          <a:p>
            <a:r>
              <a:rPr lang="zh-CN" dirty="0"/>
              <a:t>建议讲述时间：10–15秒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本页重点说明宏观动力材性试验。请先看图中的试验对象、比较工况与坐标定义，再结合曲线变化或局部破坏位置判断结果。不同几何试样形成六类应力状态，为动态断裂模型提供标定与验证数据。 原稿对应证据包括：6种应力状态：轴对称单轴拉伸(A)、多轴拉伸(B、C)、纯剪切(D)、拉-剪复合(E)、平面应变多轴拉伸(F)。讲述时突出主要比较结果，区分本页观察与后续模型推论。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来源与核对：原答辩稿PDF第25页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动力试验结果。请先看图中的试验对象、比较工况与坐标定义，再结合曲线变化或局部破坏位置判断结果。拉伸主导与剪切主导状态下，断裂响应呈现不同的应变率依赖规律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来源与核对：原答辩稿PDF第26页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宏观断裂特性的应变率与应力状态效应。请先看图中的试验对象、比较工况与坐标定义，再结合曲线变化或局部破坏位置判断结果。断裂应变的速率效应受应力状态调节，不能简单采用统一正向强化。 原稿对应证据包括：应变率效应：应变率提高，A, B, C, F：延性增强；；应力状态效应：应力三轴度提高，延性降低；。讲述时突出主要比较结果，区分本页观察与后续模型推论。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来源与核对：原答辩稿PDF第27页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本页重点说明微观组织演化的应变率与应力状态效应。请先看图中的试验对象、比较工况与坐标定义，再结合曲线变化或局部破坏位置判断结果。微观组织对应变率和应力状态的响应，为宏观断裂差异提供解释。 原稿对应证据包括：应变率提高，位错密度增加，降低延性；晶粒尺寸增加，增强延性；；A、C的滑移面织构组分增加，增强延性；E的相应组分降低，降低延性；应力三轴度提高，从A到C，位错密度降低，晶粒尺寸增大，织构组分降低，延性降低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来源与核对：原答辩稿PDF第28页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本页重点说明应变率与应力状态的耦合效应。请先看图中的试验对象、比较工况与坐标定义，再结合曲线变化或局部破坏位置判断结果。应变率效应的方向与幅度随应力状态变化，需要在模型中显式耦合。 原稿对应证据包括：微观效应指标 (ζ) 等效于宏观的DFFS，且两者的值接近 → 指标ζ的可靠性；应变率效应与应力状态耦合：应力三轴度增加，DFFS值（宏观）和ζ值（微观）增大；Lode角参数增加，DFFS值（宏观）和ζ值（微观）增大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来源与核对：原答辩稿PDF第29页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本页重点说明耦合动态断裂模型。请先看图中的试验对象、比较工况与坐标定义，再结合曲线变化或局部破坏位置判断结果。将应力状态相关的DFFS与准静力断裂面结合，构建耦合动态断裂模型。 原稿对应证据包括：应变率与应力状态效应耦合：拉伸主导应力状态下(A/B/C/F)应变率效应为正，剪切主导应力状态下为负；应变率效应（DFFS值，宏观；ζ值，微观）与ln应变率近似线性相关；应变率效应（DFFS值，宏观；和ζ值，微观）随应力三轴度和Lode角参数增加而增大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来源与核对：原答辩稿PDF第30页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准静力下描述应力状态效应的断裂模型。请先看图中的试验对象、比较工况与坐标定义，再结合曲线变化或局部破坏位置判断结果。LMVGM作为准静力基准，描述应力三轴度与Lode角参数对应变极限的影响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来源与核对：原答辩稿PDF第31页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应变率-应力状态耦合的断裂应变动力系数DFFS。请先看图中的试验对象、比较工况与坐标定义，再结合曲线变化或局部破坏位置判断结果。三参数DFFS显式引入应力状态，统一描述正、负应变率效应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来源与核对：原答辩稿PDF第32页；修订数据按论文PDF第124–130页，旧稿参数及误差值已更新。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应变率-应力状态耦合的断裂应变动力系数DFFS。请先看图中的试验对象、比较工况与坐标定义，再结合曲线变化或局部破坏位置判断结果。耦合DFFS采用三个独立常数，在精度与模型复杂度之间取得较好平衡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来源与核对：原答辩稿PDF第33页；修订数据按论文PDF第124–130页，旧稿参数及误差值已更新。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耦合动态断裂模型CD-LMVGM。请先看图中的试验对象、比较工况与坐标定义，再结合曲线变化或局部破坏位置判断结果。CD-LMVGM采用六个独立参数，Q355钢断裂应变预测RMSE为7.45%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来源与核对：原答辩稿PDF第34页；修订数据按论文PDF第124–130页，旧稿参数及误差值已更新。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耦合动态断裂模型的精度验证。请先看图中的试验对象、比较工况与坐标定义，再结合曲线变化或局部破坏位置判断结果。多材料验证中，CD-LMVGM的平均RMSE为6.77%，体现了模型的适用潜力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来源与核对：原答辩稿PDF第35页；修订数据按论文PDF第124–130页，旧稿参数及误差值已更新。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这一部分保持原稿的研究安排。下面进入4章，结合前面结果，说明本章的研究方法、关键证据与主要结论。</a:t>
            </a:r>
          </a:p>
          <a:p>
            <a:endParaRPr lang="zh-CN" dirty="0"/>
          </a:p>
          <a:p>
            <a:r>
              <a:rPr lang="zh-CN" dirty="0"/>
              <a:t>来源与核对：原答辩稿PDF第36页</a:t>
            </a:r>
          </a:p>
          <a:p>
            <a:r>
              <a:rPr lang="zh-CN" dirty="0"/>
              <a:t>建议讲述时间：10–15秒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本页重点说明试验总体方案。请先看图中的试验对象、比较工况与坐标定义，再结合曲线变化或局部破坏位置判断结果。三类典型梁柱节点采用相互对应的静力与动力试验，比较连接构造的影响。 原稿对应证据包括：获取节点的全程弯矩-转角动态响应，揭示节点的动态响应机理，分析节点受动载作用相比静载时的性能变化规律。讲述时突出主要比较结果，区分本页观察与后续模型推论。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来源与核对：原答辩稿PDF第37页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本页重点说明试件试件。请先看图中的试验对象、比较工况与坐标定义，再结合曲线变化或局部破坏位置判断结果。统一梁柱截面和主要几何条件，突出端板连接构造对响应的影响。 原稿对应证据包括：梁-端板：梁翼缘全熔透坡口焊，梁腹板双面角焊缝；端板-柱翼缘：端板220×580×6mm，配12.9级M27高强螺栓；梁-柱翼缘：热轧等边角钢110×110×7mm，配12.9级M27高强螺栓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来源与核对：原答辩稿PDF第38页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试件设计。请先看图中的试验对象、比较工况与坐标定义，再结合曲线变化或局部破坏位置判断结果。角钢与栓焊混合节点形成不同传力路径，为比较破坏机制提供基础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来源与核对：原答辩稿PDF第39页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动力试验装置。请先看图中的试验对象、比较工况与坐标定义，再结合曲线变化或局部破坏位置判断结果。空气炮冲击装置与防护、限位措施共同保证动力试验的可实施性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来源与核对：原答辩稿PDF第40页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静力试验装置。请先看图中的试验对象、比较工况与坐标定义，再结合曲线变化或局部破坏位置判断结果。准静力试验提供基准承载力、变形能力与破坏模式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来源与核对：原答辩稿PDF第41页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测量方案。请先看图中的试验对象、比较工况与坐标定义，再结合曲线变化或局部破坏位置判断结果。结合支反力、加速度与运动学测量，分离惯性贡献并重构节点弯矩–转角关系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来源与核对：原答辩稿PDF第42页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端板螺栓连接节点—静力试验结果。请先看图中的试验对象、比较工况与坐标定义，再结合曲线变化或局部破坏位置判断结果。端板静力试验明确端板塑性发展与螺栓受力的相互作用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来源与核对：原答辩稿PDF第43页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端板螺栓连接节点—动力试验结果。请先看图中的试验对象、比较工况与坐标定义，再结合曲线变化或局部破坏位置判断结果。端板节点动力峰值弯矩较自身静力基准约提高23%，变形能力仍需单独评价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来源与核对：原答辩稿PDF第44页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顶底腹板角钢连接节点—静力试验结果。请先看图中的试验对象、比较工况与坐标定义，再结合曲线变化或局部破坏位置判断结果。角钢变形与螺栓受力共同控制静力承载与塑性发展过程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来源与核对：原答辩稿PDF第45页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顶底腹板角钢连接节点—动力试验结果。请先看图中的试验对象、比较工况与坐标定义，再结合曲线变化或局部破坏位置判断结果。角钢节点动力峰值弯矩较自身静力基准约提高18%，响应呈现明显时序特征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来源与核对：原答辩稿PDF第46页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栓焊混合连接节点—静力试验结果。请先看图中的试验对象、比较工况与坐标定义，再结合曲线变化或局部破坏位置判断结果。栓焊混合节点的焊缝、梁翼缘和螺栓共同决定其静力破坏路径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来源与核对：原答辩稿PDF第47页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栓焊混合连接节点—动力试验结果。请先看图中的试验对象、比较工况与坐标定义，再结合曲线变化或局部破坏位置判断结果。栓焊混合节点动力峰值弯矩较自身静力基准约提高16%，局部损伤仍需关注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来源与核对：原答辩稿PDF第48页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这一部分保持原稿的研究安排。下面进入5章，结合前面结果，说明本章的研究方法、关键证据与主要结论。</a:t>
            </a:r>
          </a:p>
          <a:p>
            <a:endParaRPr lang="zh-CN" dirty="0"/>
          </a:p>
          <a:p>
            <a:r>
              <a:rPr lang="zh-CN" dirty="0"/>
              <a:t>来源与核对：原答辩稿PDF第49页</a:t>
            </a:r>
          </a:p>
          <a:p>
            <a:r>
              <a:rPr lang="zh-CN" dirty="0"/>
              <a:t>建议讲述时间：10–15秒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有限元模型验证—端板节点。请先看图中的试验对象、比较工况与坐标定义，再结合曲线变化或局部破坏位置判断结果。端板节点模型在曲线响应与破坏形态两方面与试验对比，为参数分析建立基础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来源与核对：原答辩稿PDF第50页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有限元模型验证—角钢节点。请先看图中的试验对象、比较工况与坐标定义，再结合曲线变化或局部破坏位置判断结果。角钢节点的曲线与局部损伤验证，支撑连接构造效应的进一步分析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来源与核对：原答辩稿PDF第51页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有限元模型验证—栓焊节点。请先看图中的试验对象、比较工况与坐标定义，再结合曲线变化或局部破坏位置判断结果。栓焊混合节点需同步验证整体响应和焊接区域的局部破坏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来源与核对：原答辩稿PDF第52页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端板螺栓连接节点动态响应机理。请先看图中的试验对象、比较工况与坐标定义，再结合曲线变化或局部破坏位置判断结果。冲击速度改变响应强度与持续时间，应结合峰值、转角和破坏模式共同判断。 原稿对应证据包括：部损伤发展的影响规律，分析节点的动态响应机理；冲击初速度：80、120、160、200、240 m/s；随冲击速度提高：柱顶速度峰值和残余速度增大，峰值弯矩和峰值转角先迅速提高后减缓；；节点极限转角、塑性变形和裂纹扩展程度大幅增加；失效由端板弯曲向多排孔边撕裂演化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来源与核对：原答辩稿PDF第53页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本页重点说明端板螺栓连接节点动态响应机理。请先看图中的试验对象、比较工况与坐标定义，再结合曲线变化或局部破坏位置判断结果。端板厚度改变板–栓相对强度，承载提升可能伴随控制破坏机制转变。 原稿对应证据包括：部损伤发展的影响规律，分析节点的动态响应机理；端板厚度：5、6、8、10、16 mm；随端板厚度增加：峰值弯矩提高，峰值转角、极限转角和端板张开量均降低；；失效模式上，孔边开裂受到抑制，端板弯曲受限。讲述时突出主要比较结果，区分本页观察与后续模型推论。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来源与核对：原答辩稿PDF第54页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本页重点说明端板螺栓连接节点动态响应机理。请先看图中的试验对象、比较工况与坐标定义，再结合曲线变化或局部破坏位置判断结果。增大螺栓直径会重分配组件抗力，需与端板塑性发展相匹配。 原稿对应证据包括：部损伤发展的影响规律，分析节点的动态响应机理；螺栓直径：M16、M20、M24、M27、M30；随螺栓直径增大：峰值弯矩总体提高，转角和端板弯曲变形总体下降；；螺栓拉断受到抑制，薄弱部位由螺栓转移至端板孔边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来源与核对：原答辩稿PDF第55页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本页重点说明端板螺栓连接节点动态响应机理。请先看图中的试验对象、比较工况与坐标定义，再结合曲线变化或局部破坏位置判断结果。竖向螺栓布置改变力臂与局部弯曲条件，进而影响节点整体动力响应。 原稿对应证据包括：部损伤发展的影响规律，分析节点的动态响应机理；纵向λ=n/m：0.625、0.733、0.857、1.0、1.167；随λ值增大：峰值弯矩总体提高但增速降低，转角和端板塑性变形整体下降；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来源与核对：原答辩稿PDF第56页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本页重点说明端板螺栓连接节点动态响应机理。请先看图中的试验对象、比较工况与坐标定义，再结合曲线变化或局部破坏位置判断结果。横向螺栓间距通过端板局部弯曲和撬力作用影响抗冲击性能。 原稿对应证据包括：随边距增大：峰值弯矩先提高后降低，峰值转角基本稳定，极限转角和端板塑性变形先下降后增；加；节点裂纹扩展由螺孔外缘向端板自由边扩展转向螺孔间贯通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来源与核对：原答辩稿PDF第57页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本页重点说明顶底腹板角钢连接节点动态响应机理。请先看图中的试验对象、比较工况与坐标定义，再结合曲线变化或局部破坏位置判断结果。角钢节点的冲击速度效应需要结合连接变形与螺栓损伤共同分析。 原稿对应证据包括：部损伤发展的影响规律，分析节点的动态响应机理；冲击初速度：80、120、160、200、240 m/s；随冲击速度提高：柱顶速度峰值和残余速度增大，峰值弯矩提高但增速减缓，转角持续增大；；失效由角钢局部弯曲向受拉翼缘角钢孔边净截面开裂发展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来源与核对：原答辩稿PDF第58页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本页重点说明顶底腹板角钢连接节点动态响应机理。请先看图中的试验对象、比较工况与坐标定义，再结合曲线变化或局部破坏位置判断结果。角钢厚度影响柔性变形与螺栓受力之间的分配关系。 原稿对应证据包括：部损伤发展的影响规律，分析节点的动态响应机理；角钢厚度：7、8、10、12、14 mm；随角钢厚度增加：峰值弯矩提高，峰值转角先提高后降低，极限转角持续降低；；孔边开裂逐步受到抑制，节点转为整体刚度控制。讲述时突出主要比较结果，区分本页观察与后续模型推论。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来源与核对：原答辩稿PDF第59页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本页重点说明顶底腹板角钢连接节点动态响应机理。请先看图中的试验对象、比较工况与坐标定义，再结合曲线变化或局部破坏位置判断结果。螺栓直径对角钢节点的影响取决于组件之间的强弱关系。 原稿对应证据包括：部损伤发展的影响规律，分析节点的动态响应机理；螺栓直径：M16、M20、M24、M27、M30；随螺栓直径增大：峰值弯矩增加，转动能力降低；；螺栓拉断被抑制，薄弱部位转移至角钢，最终由角钢净截面开裂控制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来源与核对：原答辩稿PDF第60页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本页重点说明顶底腹板角钢连接节点动态响应机理。请先看图中的试验对象、比较工况与坐标定义，再结合曲线变化或局部破坏位置判断结果。角钢端距改变局部变形与传力条件，需同时考察承载和转动能力。 原稿对应证据包括：随横向边距增大：峰值弯矩、峰值转角和极限转角变化不大；；损伤路径转移：螺孔外缘裂纹向角钢自由边扩展贯通→螺孔间裂纹贯通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来源与核对：原答辩稿PDF第61页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本页重点说明栓焊混合连接节点动态响应机理。请先看图中的试验对象、比较工况与坐标定义，再结合曲线变化或局部破坏位置判断结果。栓焊混合节点在不同速度下表现出整体动力响应与局部破坏的耦合。 原稿对应证据包括：及局部损伤发展的影响规律，分析节点的动态响应机理；冲击初速度：80、120、160、200、240 m/s；随冲击速度提高：柱顶速度峰值和残余速度增大，峰值弯矩提高但增速减缓，转角持续增。讲述时突出主要比较结果，区分本页观察与后续模型推论。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来源与核对：原答辩稿PDF第62页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栓焊混合连接节点动态响应机理。请先看图中的试验对象、比较工况与坐标定义，再结合曲线变化或局部破坏位置判断结果。焊接孔构造改变局部应力集中与裂纹路径，是改善节点损伤分布的重要因素。 原稿对应证据包括：律，分析节点的动态响应机理；过焊孔构造：标准、标准-无垫板、FEMA型、扩大型；不设垫板时承载能力最差；FEMA过焊孔与标准过焊孔性能接近，扩大型过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来源与核对：原答辩稿PDF第63页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这一部分保持原稿的研究安排。下面进入6章，结合前面结果，说明本章的研究方法、关键证据与主要结论。</a:t>
            </a:r>
          </a:p>
          <a:p>
            <a:endParaRPr lang="zh-CN" dirty="0"/>
          </a:p>
          <a:p>
            <a:r>
              <a:rPr lang="zh-CN" dirty="0"/>
              <a:t>来源与核对：原答辩稿PDF第64页</a:t>
            </a:r>
          </a:p>
          <a:p>
            <a:r>
              <a:rPr lang="zh-CN" dirty="0"/>
              <a:t>建议讲述时间：10–15秒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节点抗冲击承载力数据库。请先看图中的试验对象、比较工况与坐标定义，再结合曲线变化或局部破坏位置判断结果。按节点构造分组划分训练集与独立验证集，避免同构造样本造成信息泄漏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来源与核对：原答辩稿PDF第65页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机器学习预测模型。请先看图中的试验对象、比较工况与坐标定义，再结合曲线变化或局部破坏位置判断结果。失效模式分类为后续分模式承载力计算提供依据，混淆矩阵用于识别易混类别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来源与核对：原答辩稿PDF第66页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机器学习预测模型。请先看图中的试验对象、比较工况与坐标定义，再结合曲线变化或局部破坏位置判断结果。CatBoost能够学习构造与加载速率的非线性影响，测试集DIF预测R²为0.933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来源与核对：原答辩稿PDF第67页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输入特征SHAP分析。请先看图中的试验对象、比较工况与坐标定义，再结合曲线变化或局部破坏位置判断结果。SHAP揭示加载速率与板–栓相对强度的重要作用，为简化计算模型选择变量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来源与核对：原答辩稿PDF第68页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板–栓相对强度与动力失效模式。请先看图中的试验对象、比较工况与坐标定义，再结合曲线变化或局部破坏位置判断结果。组件动力强化程度不同，会改变端板与螺栓的相对强弱关系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来源与核对：博士论文第6章；新增于原第68页后，重点参照式(6.28)–(6.35)与图6.15–6.19。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动力失效模式边界修正。请先看图中的试验对象、比较工况与坐标定义，再结合曲线变化或局部破坏位置判断结果。动力边界描述模式迁移的主要趋势，过渡区仍存在少量交叉样本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来源与核对：博士论文第6章；新增于原第68页后，重点参照式(6.28)–(6.35)与图6.15–6.19。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分模式动力增大系数简化公式。请先看图中的试验对象、比较工况与坐标定义，再结合曲线变化或局部破坏位置判断结果。按控制失效模式选择DIF公式，保留速率项及速率–构造耦合项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来源与核对：博士论文第6章；新增于原第68页后，重点参照式(6.28)–(6.35)与图6.15–6.19。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抗冲击承载力实用计算流程。请先看图中的试验对象、比较工况与坐标定义，再结合曲线变化或局部破坏位置判断结果。以静力承载力为基准，通过模式识别与分模式动力修正得到动力峰值弯矩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来源与核对：博士论文第6章；新增于原第68页后，重点参照式(6.28)–(6.35)与图6.15–6.19。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独立节点样本验证。请先看图中的试验对象、比较工况与坐标定义，再结合曲线变化或局部破坏位置判断结果。完整方法在独立节点样本上的动力峰值弯矩预测R²为0.910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来源与核对：博士论文第6章；新增于原第68页后，重点参照式(6.28)–(6.35)与图6.15–6.19。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计算方法适用范围与误差来源。请先看图中的试验对象、比较工况与坐标定义，再结合曲线变化或局部破坏位置判断结果。模式边界附近的识别误差，是完整计算流程不确定性的重要来源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来源与核对：博士论文第6章；新增于原第68页后，重点参照式(6.28)–(6.35)与图6.15–6.19。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这一部分保持原稿的研究安排。下面进入7章，结合前面结果，说明本章的研究方法、关键证据与主要结论。</a:t>
            </a:r>
          </a:p>
          <a:p>
            <a:endParaRPr lang="zh-CN" dirty="0"/>
          </a:p>
          <a:p>
            <a:r>
              <a:rPr lang="zh-CN" dirty="0"/>
              <a:t>来源与核对：原答辩稿PDF第69页</a:t>
            </a:r>
          </a:p>
          <a:p>
            <a:r>
              <a:rPr lang="zh-CN" dirty="0"/>
              <a:t>建议讲述时间：10–15秒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主要研究成果。请先看图中的试验对象、比较工况与坐标定义，再结合曲线变化或局部破坏位置判断结果。材料研究将宏观动力响应与微观机制联系起来，为节点动力分析提供本构与断裂输入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来源与核对：原答辩稿PDF第70页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主要研究成果。请先看图中的试验对象、比较工况与坐标定义，再结合曲线变化或局部破坏位置判断结果。节点试验、机理分析与分模式计算共同形成由材料到连接承载力的研究链条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来源与核对：原答辩稿PDF第71页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研究不足。请先看图中的试验对象、比较工况与坐标定义，再结合曲线变化或局部破坏位置判断结果。研究结论受材料、连接类型与加载范围约束，边界样本与复杂工况仍需补充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来源与核对：原答辩稿PDF第72页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重点说明展望。请先看图中的试验对象、比较工况与坐标定义，再结合曲线变化或局部破坏位置判断结果。后续应扩展试验数据库、复杂荷载路径和构件尺度验证，完善工程适用边界。讲述时突出主要比较结果，区分本页观察与后续模型推论。</a:t>
            </a:r>
          </a:p>
          <a:p>
            <a:endParaRPr lang="zh-CN" dirty="0"/>
          </a:p>
          <a:p>
            <a:r>
              <a:rPr lang="zh-CN" dirty="0"/>
              <a:t>来源与核对：原答辩稿PDF第73页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以上是我的博士学位论文答辩汇报。感谢各位专家的宝贵时间，恳请批评指正。</a:t>
            </a:r>
          </a:p>
          <a:p>
            <a:endParaRPr lang="zh-CN" dirty="0"/>
          </a:p>
          <a:p>
            <a:r>
              <a:rPr lang="zh-CN" dirty="0"/>
              <a:t>来源与核对：原答辩稿PDF第74页</a:t>
            </a:r>
          </a:p>
          <a:p>
            <a:r>
              <a:rPr lang="zh-CN" dirty="0"/>
              <a:t>建议讲述时间：25–40秒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_img1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_img1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_img1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4_img2.png"/>
  <Relationship Id="rId4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5_img2.png"/>
  <Relationship Id="rId4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6_img2.png"/>
  <Relationship Id="rId4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7_img2.png"/>
  <Relationship Id="rId4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8_img2.png"/>
  <Relationship Id="rId4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9_img2.png"/>
  <Relationship Id="rId4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10_img2.png"/>
  <Relationship Id="rId4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11_img2.png"/>
  <Relationship Id="rId4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12_img2.png"/>
  <Relationship Id="rId4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_img1.pn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14_img2.png"/>
  <Relationship Id="rId4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15_img2.png"/>
  <Relationship Id="rId4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16_img2.png"/>
  <Relationship Id="rId4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17_img2.png"/>
  <Relationship Id="rId4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18_img2.png"/>
  <Relationship Id="rId4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19_img2.png"/>
  <Relationship Id="rId4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20_img2.png"/>
  <Relationship Id="rId4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21_img2.png"/>
  <Relationship Id="rId4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22_img2.png"/>
  <Relationship Id="rId4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23_img2.png"/>
  <Relationship Id="rId4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_img1.png"/>
  <Relationship Id="rId3" Type="http://schemas.openxmlformats.org/officeDocument/2006/relationships/notesSlide" Target="../notesSlides/notesSlide24.xml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25_img2.png"/>
  <Relationship Id="rId4" Type="http://schemas.openxmlformats.org/officeDocument/2006/relationships/notesSlide" Target="../notesSlides/notesSlide25.xml"/>
</Relationships>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26_img2.png"/>
  <Relationship Id="rId4" Type="http://schemas.openxmlformats.org/officeDocument/2006/relationships/notesSlide" Target="../notesSlides/notesSlide26.xml"/>
</Relationships>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27_img2.png"/>
  <Relationship Id="rId4" Type="http://schemas.openxmlformats.org/officeDocument/2006/relationships/notesSlide" Target="../notesSlides/notesSlide27.xml"/>
</Relationships>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28_img2.png"/>
  <Relationship Id="rId4" Type="http://schemas.openxmlformats.org/officeDocument/2006/relationships/notesSlide" Target="../notesSlides/notesSlide28.xml"/>
</Relationships>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29_img2.png"/>
  <Relationship Id="rId4" Type="http://schemas.openxmlformats.org/officeDocument/2006/relationships/notesSlide" Target="../notesSlides/notesSlide29.xml"/>
</Relationships>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30_img2.png"/>
  <Relationship Id="rId4" Type="http://schemas.openxmlformats.org/officeDocument/2006/relationships/notesSlide" Target="../notesSlides/notesSlide30.xml"/>
</Relationships>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31_img2.png"/>
  <Relationship Id="rId4" Type="http://schemas.openxmlformats.org/officeDocument/2006/relationships/notesSlide" Target="../notesSlides/notesSlide31.xml"/>
</Relationships>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32_img2.png"/>
  <Relationship Id="rId4" Type="http://schemas.openxmlformats.org/officeDocument/2006/relationships/notesSlide" Target="../notesSlides/notesSlide32.xml"/>
</Relationships>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33_img2.png"/>
  <Relationship Id="rId4" Type="http://schemas.openxmlformats.org/officeDocument/2006/relationships/notesSlide" Target="../notesSlides/notesSlide33.xml"/>
</Relationships>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34_img2.png"/>
  <Relationship Id="rId4" Type="http://schemas.openxmlformats.org/officeDocument/2006/relationships/notesSlide" Target="../notesSlides/notesSlide34.xml"/>
</Relationships>
</file>

<file path=ppt/slides/_rels/slide3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35_img2.png"/>
  <Relationship Id="rId4" Type="http://schemas.openxmlformats.org/officeDocument/2006/relationships/notesSlide" Target="../notesSlides/notesSlide35.xml"/>
</Relationships>
</file>

<file path=ppt/slides/_rels/slide3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_img1.png"/>
  <Relationship Id="rId3" Type="http://schemas.openxmlformats.org/officeDocument/2006/relationships/notesSlide" Target="../notesSlides/notesSlide36.xml"/>
</Relationships>
</file>

<file path=ppt/slides/_rels/slide3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37_img2.png"/>
  <Relationship Id="rId4" Type="http://schemas.openxmlformats.org/officeDocument/2006/relationships/notesSlide" Target="../notesSlides/notesSlide37.xml"/>
</Relationships>
</file>

<file path=ppt/slides/_rels/slide3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38_img2.png"/>
  <Relationship Id="rId4" Type="http://schemas.openxmlformats.org/officeDocument/2006/relationships/notesSlide" Target="../notesSlides/notesSlide38.xml"/>
</Relationships>
</file>

<file path=ppt/slides/_rels/slide3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39_img2.png"/>
  <Relationship Id="rId4" Type="http://schemas.openxmlformats.org/officeDocument/2006/relationships/notesSlide" Target="../notesSlides/notesSlide39.xml"/>
</Relationships>
</file>

<file path=ppt/slides/_rels/slide4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40_img2.png"/>
  <Relationship Id="rId4" Type="http://schemas.openxmlformats.org/officeDocument/2006/relationships/notesSlide" Target="../notesSlides/notesSlide40.xml"/>
</Relationships>
</file>

<file path=ppt/slides/_rels/slide4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41_img2.png"/>
  <Relationship Id="rId4" Type="http://schemas.openxmlformats.org/officeDocument/2006/relationships/notesSlide" Target="../notesSlides/notesSlide41.xml"/>
</Relationships>
</file>

<file path=ppt/slides/_rels/slide4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42_img2.png"/>
  <Relationship Id="rId4" Type="http://schemas.openxmlformats.org/officeDocument/2006/relationships/notesSlide" Target="../notesSlides/notesSlide42.xml"/>
</Relationships>
</file>

<file path=ppt/slides/_rels/slide4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43_img2.png"/>
  <Relationship Id="rId4" Type="http://schemas.openxmlformats.org/officeDocument/2006/relationships/notesSlide" Target="../notesSlides/notesSlide43.xml"/>
</Relationships>
</file>

<file path=ppt/slides/_rels/slide4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44_img2.png"/>
  <Relationship Id="rId4" Type="http://schemas.openxmlformats.org/officeDocument/2006/relationships/notesSlide" Target="../notesSlides/notesSlide44.xml"/>
</Relationships>
</file>

<file path=ppt/slides/_rels/slide4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45_img2.png"/>
  <Relationship Id="rId4" Type="http://schemas.openxmlformats.org/officeDocument/2006/relationships/notesSlide" Target="../notesSlides/notesSlide45.xml"/>
</Relationships>
</file>

<file path=ppt/slides/_rels/slide4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46_img2.png"/>
  <Relationship Id="rId4" Type="http://schemas.openxmlformats.org/officeDocument/2006/relationships/notesSlide" Target="../notesSlides/notesSlide46.xml"/>
</Relationships>
</file>

<file path=ppt/slides/_rels/slide4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47_img2.png"/>
  <Relationship Id="rId4" Type="http://schemas.openxmlformats.org/officeDocument/2006/relationships/notesSlide" Target="../notesSlides/notesSlide47.xml"/>
</Relationships>
</file>

<file path=ppt/slides/_rels/slide4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48_img2.png"/>
  <Relationship Id="rId4" Type="http://schemas.openxmlformats.org/officeDocument/2006/relationships/notesSlide" Target="../notesSlides/notesSlide48.xml"/>
</Relationships>
</file>

<file path=ppt/slides/_rels/slide4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_img1.png"/>
  <Relationship Id="rId3" Type="http://schemas.openxmlformats.org/officeDocument/2006/relationships/notesSlide" Target="../notesSlides/notesSlide49.xml"/>
</Relationships>
</file>

<file path=ppt/slides/_rels/slide5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50_img2.png"/>
  <Relationship Id="rId4" Type="http://schemas.openxmlformats.org/officeDocument/2006/relationships/notesSlide" Target="../notesSlides/notesSlide50.xml"/>
</Relationships>
</file>

<file path=ppt/slides/_rels/slide5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51_img2.png"/>
  <Relationship Id="rId4" Type="http://schemas.openxmlformats.org/officeDocument/2006/relationships/notesSlide" Target="../notesSlides/notesSlide51.xml"/>
</Relationships>
</file>

<file path=ppt/slides/_rels/slide5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52_img2.png"/>
  <Relationship Id="rId4" Type="http://schemas.openxmlformats.org/officeDocument/2006/relationships/notesSlide" Target="../notesSlides/notesSlide52.xml"/>
</Relationships>
</file>

<file path=ppt/slides/_rels/slide5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53_img2.png"/>
  <Relationship Id="rId4" Type="http://schemas.openxmlformats.org/officeDocument/2006/relationships/notesSlide" Target="../notesSlides/notesSlide53.xml"/>
</Relationships>
</file>

<file path=ppt/slides/_rels/slide5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54_img2.png"/>
  <Relationship Id="rId4" Type="http://schemas.openxmlformats.org/officeDocument/2006/relationships/notesSlide" Target="../notesSlides/notesSlide54.xml"/>
</Relationships>
</file>

<file path=ppt/slides/_rels/slide5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55_img2.png"/>
  <Relationship Id="rId4" Type="http://schemas.openxmlformats.org/officeDocument/2006/relationships/notesSlide" Target="../notesSlides/notesSlide55.xml"/>
</Relationships>
</file>

<file path=ppt/slides/_rels/slide5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56_img2.png"/>
  <Relationship Id="rId4" Type="http://schemas.openxmlformats.org/officeDocument/2006/relationships/notesSlide" Target="../notesSlides/notesSlide56.xml"/>
</Relationships>
</file>

<file path=ppt/slides/_rels/slide5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57_img2.png"/>
  <Relationship Id="rId4" Type="http://schemas.openxmlformats.org/officeDocument/2006/relationships/notesSlide" Target="../notesSlides/notesSlide57.xml"/>
</Relationships>
</file>

<file path=ppt/slides/_rels/slide5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58_img2.png"/>
  <Relationship Id="rId4" Type="http://schemas.openxmlformats.org/officeDocument/2006/relationships/notesSlide" Target="../notesSlides/notesSlide58.xml"/>
</Relationships>
</file>

<file path=ppt/slides/_rels/slide5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59_img2.png"/>
  <Relationship Id="rId4" Type="http://schemas.openxmlformats.org/officeDocument/2006/relationships/notesSlide" Target="../notesSlides/notesSlide59.xml"/>
</Relationships>
</file>

<file path=ppt/slides/_rels/slide6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60_img2.png"/>
  <Relationship Id="rId4" Type="http://schemas.openxmlformats.org/officeDocument/2006/relationships/notesSlide" Target="../notesSlides/notesSlide60.xml"/>
</Relationships>
</file>

<file path=ppt/slides/_rels/slide6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61_img2.png"/>
  <Relationship Id="rId4" Type="http://schemas.openxmlformats.org/officeDocument/2006/relationships/notesSlide" Target="../notesSlides/notesSlide61.xml"/>
</Relationships>
</file>

<file path=ppt/slides/_rels/slide6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62_img2.png"/>
  <Relationship Id="rId4" Type="http://schemas.openxmlformats.org/officeDocument/2006/relationships/notesSlide" Target="../notesSlides/notesSlide62.xml"/>
</Relationships>
</file>

<file path=ppt/slides/_rels/slide6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63_img2.png"/>
  <Relationship Id="rId4" Type="http://schemas.openxmlformats.org/officeDocument/2006/relationships/notesSlide" Target="../notesSlides/notesSlide63.xml"/>
</Relationships>
</file>

<file path=ppt/slides/_rels/slide6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_img1.png"/>
  <Relationship Id="rId3" Type="http://schemas.openxmlformats.org/officeDocument/2006/relationships/notesSlide" Target="../notesSlides/notesSlide64.xml"/>
</Relationships>
</file>

<file path=ppt/slides/_rels/slide6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65_img2.png"/>
  <Relationship Id="rId4" Type="http://schemas.openxmlformats.org/officeDocument/2006/relationships/notesSlide" Target="../notesSlides/notesSlide65.xml"/>
</Relationships>
</file>

<file path=ppt/slides/_rels/slide6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66_img2.png"/>
  <Relationship Id="rId4" Type="http://schemas.openxmlformats.org/officeDocument/2006/relationships/notesSlide" Target="../notesSlides/notesSlide66.xml"/>
</Relationships>
</file>

<file path=ppt/slides/_rels/slide6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67_img2.png"/>
  <Relationship Id="rId4" Type="http://schemas.openxmlformats.org/officeDocument/2006/relationships/notesSlide" Target="../notesSlides/notesSlide67.xml"/>
</Relationships>
</file>

<file path=ppt/slides/_rels/slide6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68_img2.png"/>
  <Relationship Id="rId4" Type="http://schemas.openxmlformats.org/officeDocument/2006/relationships/notesSlide" Target="../notesSlides/notesSlide68.xml"/>
</Relationships>
</file>

<file path=ppt/slides/_rels/slide6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69_img2.png"/>
  <Relationship Id="rId4" Type="http://schemas.openxmlformats.org/officeDocument/2006/relationships/notesSlide" Target="../notesSlides/notesSlide69.xml"/>
</Relationships>
</file>

<file path=ppt/slides/_rels/slide7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70_img2.png"/>
  <Relationship Id="rId4" Type="http://schemas.openxmlformats.org/officeDocument/2006/relationships/notesSlide" Target="../notesSlides/notesSlide70.xml"/>
</Relationships>
</file>

<file path=ppt/slides/_rels/slide7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71.xml"/>
</Relationships>
</file>

<file path=ppt/slides/_rels/slide7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72.xml"/>
</Relationships>
</file>

<file path=ppt/slides/_rels/slide7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73_img2.png"/>
  <Relationship Id="rId4" Type="http://schemas.openxmlformats.org/officeDocument/2006/relationships/image" Target="../media/s73_img3.png"/>
  <Relationship Id="rId5" Type="http://schemas.openxmlformats.org/officeDocument/2006/relationships/notesSlide" Target="../notesSlides/notesSlide73.xml"/>
</Relationships>
</file>

<file path=ppt/slides/_rels/slide7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74.xml"/>
</Relationships>
</file>

<file path=ppt/slides/_rels/slide7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_img1.png"/>
  <Relationship Id="rId3" Type="http://schemas.openxmlformats.org/officeDocument/2006/relationships/notesSlide" Target="../notesSlides/notesSlide75.xml"/>
</Relationships>
</file>

<file path=ppt/slides/_rels/slide7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76_img2.png"/>
  <Relationship Id="rId4" Type="http://schemas.openxmlformats.org/officeDocument/2006/relationships/image" Target="../media/s76_img3.png"/>
  <Relationship Id="rId5" Type="http://schemas.openxmlformats.org/officeDocument/2006/relationships/notesSlide" Target="../notesSlides/notesSlide76.xml"/>
</Relationships>
</file>

<file path=ppt/slides/_rels/slide7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77_img2.png"/>
  <Relationship Id="rId4" Type="http://schemas.openxmlformats.org/officeDocument/2006/relationships/image" Target="../media/s77_img3.png"/>
  <Relationship Id="rId5" Type="http://schemas.openxmlformats.org/officeDocument/2006/relationships/image" Target="../media/s73_img3.png"/>
  <Relationship Id="rId6" Type="http://schemas.openxmlformats.org/officeDocument/2006/relationships/notesSlide" Target="../notesSlides/notesSlide77.xml"/>
</Relationships>
</file>

<file path=ppt/slides/_rels/slide7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78_img2.png"/>
  <Relationship Id="rId4" Type="http://schemas.openxmlformats.org/officeDocument/2006/relationships/image" Target="../media/s78_img3.png"/>
  <Relationship Id="rId5" Type="http://schemas.openxmlformats.org/officeDocument/2006/relationships/image" Target="../media/s70_img2.png"/>
  <Relationship Id="rId6" Type="http://schemas.openxmlformats.org/officeDocument/2006/relationships/image" Target="../media/s77_img3.png"/>
  <Relationship Id="rId7" Type="http://schemas.openxmlformats.org/officeDocument/2006/relationships/notesSlide" Target="../notesSlides/notesSlide78.xml"/>
</Relationships>
</file>

<file path=ppt/slides/_rels/slide7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image" Target="../media/s78_img2.png"/>
  <Relationship Id="rId4" Type="http://schemas.openxmlformats.org/officeDocument/2006/relationships/image" Target="../media/s78_img3.png"/>
  <Relationship Id="rId5" Type="http://schemas.openxmlformats.org/officeDocument/2006/relationships/image" Target="../media/s70_img2.png"/>
  <Relationship Id="rId6" Type="http://schemas.openxmlformats.org/officeDocument/2006/relationships/image" Target="../media/s77_img3.png"/>
  <Relationship Id="rId7" Type="http://schemas.openxmlformats.org/officeDocument/2006/relationships/notesSlide" Target="../notesSlides/notesSlide79.xml"/>
</Relationships>
</file>

<file path=ppt/slides/_rels/slide8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80_img1.png"/>
  <Relationship Id="rId3" Type="http://schemas.openxmlformats.org/officeDocument/2006/relationships/notesSlide" Target="../notesSlides/notesSlide8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44780" y="1097280"/>
            <a:ext cx="262966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博士学位论文答辩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90590" y="2580322"/>
            <a:ext cx="9610820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4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高应变率下钢框架梁柱节点力学性能研究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973830" y="5345430"/>
            <a:ext cx="166354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指导教师：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0" y="5345430"/>
            <a:ext cx="337035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赵宪忠教授 闫伸副教授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73830" y="5783580"/>
            <a:ext cx="166354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学生姓名：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50230" y="5783580"/>
            <a:ext cx="101946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魏叶云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73830" y="6221730"/>
            <a:ext cx="166354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答辩日期：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50230" y="6221730"/>
            <a:ext cx="174405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2026.10.08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5568" cy="6858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394835" y="532448"/>
            <a:ext cx="537336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98745" y="598170"/>
            <a:ext cx="79705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绪论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94835" y="143732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98745" y="1503045"/>
            <a:ext cx="6520167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Q355钢应变依赖动力增大系数(SD-DIF)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94835" y="234219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98745" y="2407920"/>
            <a:ext cx="602330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Q355钢耦合动态断裂模型CD-LMVGM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94835" y="324707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98745" y="3312795"/>
            <a:ext cx="558165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钢框架梁柱节点动力冲击试验研究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94835" y="415194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98745" y="4217670"/>
            <a:ext cx="484555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钢框架梁柱节点动态响应机理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94835" y="505682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98745" y="5122545"/>
            <a:ext cx="668578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端板螺栓连接节点抗冲击承载力计算方法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94835" y="596169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98745" y="6027420"/>
            <a:ext cx="190119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结论与展望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384661" y="6597968"/>
            <a:ext cx="5863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595959"/>
                </a:solidFill>
                <a:latin typeface="Arial"/>
                <a:ea typeface="Microsoft YaHei"/>
                <a:cs typeface="Arial"/>
              </a:rPr>
              <a:t>2 / 80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5568" cy="6858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394835" y="532448"/>
            <a:ext cx="537336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B6282D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98745" y="598170"/>
            <a:ext cx="79705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B6282D"/>
                </a:solidFill>
                <a:latin typeface="Arial"/>
                <a:ea typeface="Microsoft YaHei"/>
                <a:cs typeface="Arial"/>
              </a:rPr>
              <a:t>绪论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94835" y="143732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98745" y="1503045"/>
            <a:ext cx="6520167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Q355钢应变依赖动力增大系数(SD-DIF)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94835" y="234219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98745" y="2407920"/>
            <a:ext cx="602330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Q355钢耦合动态断裂模型CD-LMVGM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94835" y="324707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98745" y="3312795"/>
            <a:ext cx="558165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钢框架梁柱节点动力冲击试验研究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94835" y="415194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98745" y="4217670"/>
            <a:ext cx="484555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钢框架梁柱节点动态响应机理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94835" y="505682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98745" y="5122545"/>
            <a:ext cx="668578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端板螺栓连接节点抗冲击承载力计算方法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94835" y="596169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98745" y="6027420"/>
            <a:ext cx="190119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结论与展望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384661" y="6597968"/>
            <a:ext cx="5863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595959"/>
                </a:solidFill>
                <a:latin typeface="Arial"/>
                <a:ea typeface="Microsoft YaHei"/>
                <a:cs typeface="Arial"/>
              </a:rPr>
              <a:t>3 / 80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研究背景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9412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第1章 绪论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03711" y="6626542"/>
            <a:ext cx="5863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5920626" y="5469903"/>
            <a:ext cx="1658188" cy="2822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9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动力（中应变率）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58140" y="6092190"/>
            <a:ext cx="9154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爆炸与冲击作用下，钢材的速率效应与节点的瞬态响应共同影响结构安全。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研究背景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9412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第1章 绪论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03711" y="6626542"/>
            <a:ext cx="5863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5588165" y="1879321"/>
            <a:ext cx="3272242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材料：应变率效应、应力状态效应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88165" y="3873475"/>
            <a:ext cx="4901283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节点：动力效应（材料应变率效应+结构惯性效应）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358140" y="6092190"/>
            <a:ext cx="777468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节点抗冲击性能需要同时考虑材料应变率效应和结构惯性作用。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29669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研究现状与不足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9412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第1章 绪论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03711" y="6626542"/>
            <a:ext cx="5863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90066" y="3602307"/>
            <a:ext cx="2200275" cy="2514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8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低应变率：液压伺服试验机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80746" y="3602307"/>
            <a:ext cx="2200275" cy="2514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8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中应变率：高速拉伸试验机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62786" y="3602226"/>
            <a:ext cx="2020762" cy="2516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8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中应变率：改进落锤装置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247533" y="5571330"/>
            <a:ext cx="2020762" cy="2516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8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超高应变率：轻气炮装置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30697" y="5571411"/>
            <a:ext cx="2200275" cy="2514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8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高应变率：霍普金森杆装置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41634" y="5576378"/>
            <a:ext cx="1116530" cy="2516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8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剪切应力状态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028071" y="3461542"/>
            <a:ext cx="1839916" cy="2516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8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平面应变多轴拉伸状态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06462" y="2299587"/>
            <a:ext cx="1659069" cy="2516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8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轴对称多轴拉伸状态</a:t>
            </a:r>
          </a:p>
        </p:txBody>
      </p:sp>
      <p:sp>
        <p:nvSpPr>
          <p:cNvPr id="18" name="Rectangle 18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358140" y="6092190"/>
            <a:ext cx="83267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宽应变率范围与多应力状态试验，是建立节点动力材料输入的基础。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29669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研究现状与不足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9412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第1章 绪论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03711" y="6626542"/>
            <a:ext cx="5863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7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402690" y="1570520"/>
            <a:ext cx="1546107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经验型模型名称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616269" y="1574406"/>
            <a:ext cx="1832429" cy="2785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71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应变率-应变耦合性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052616" y="2038698"/>
            <a:ext cx="1659069" cy="2516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8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应变率、应变、温度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52616" y="2252629"/>
            <a:ext cx="1659069" cy="2516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8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应变率、应变、温度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52616" y="2500374"/>
            <a:ext cx="1659069" cy="2516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8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应变率、应变、温度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052616" y="2747929"/>
            <a:ext cx="1659069" cy="2516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8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应变率、应变、温度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87788" y="2983197"/>
            <a:ext cx="1116530" cy="2516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8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微观晶粒尺寸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02690" y="3348171"/>
            <a:ext cx="1546107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物理型模型名称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16269" y="3352057"/>
            <a:ext cx="1832429" cy="2785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71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应变率-应变耦合性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52616" y="3688618"/>
            <a:ext cx="1659069" cy="2516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8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应变率、应变、温度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52616" y="3989418"/>
            <a:ext cx="1659069" cy="2516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8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应变率、应变、温度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76178" y="4438640"/>
            <a:ext cx="1834344" cy="250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4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应变率、应变、温度、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052425" y="5127084"/>
            <a:ext cx="1659069" cy="2516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8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应变率、应变、温度</a:t>
            </a:r>
          </a:p>
        </p:txBody>
      </p:sp>
      <p:sp>
        <p:nvSpPr>
          <p:cNvPr id="23" name="Rectangle 23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358140" y="6092190"/>
            <a:ext cx="80507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现有本构模型难以统一描述强化幅度随塑性应变发展的变化规律。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29669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研究现状与不足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9412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第1章 绪论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03711" y="6626542"/>
            <a:ext cx="5863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8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8267405" y="1902014"/>
            <a:ext cx="1839916" cy="2516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8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应变率、应力三轴度、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96468" y="2674015"/>
            <a:ext cx="1514392" cy="2516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8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Lode角参数、温度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67405" y="3069588"/>
            <a:ext cx="1839916" cy="2516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8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应变率、应力三轴度、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67405" y="3894168"/>
            <a:ext cx="1839916" cy="2516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8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应变率、应力三轴度、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96468" y="4082382"/>
            <a:ext cx="1514392" cy="2516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8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Lode角参数、温度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81368" y="4720866"/>
            <a:ext cx="1375691" cy="2478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2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应变率-应力三轴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67405" y="5302534"/>
            <a:ext cx="1839916" cy="2516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8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应变率、应力三轴度、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81368" y="5304558"/>
            <a:ext cx="1375691" cy="2478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2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应变率-应力三轴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854270" y="5490748"/>
            <a:ext cx="1433011" cy="2516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8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度/Lode参数耦合</a:t>
            </a:r>
          </a:p>
        </p:txBody>
      </p:sp>
      <p:sp>
        <p:nvSpPr>
          <p:cNvPr id="19" name="Rectangle 19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358140" y="6092190"/>
            <a:ext cx="777468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动态断裂预测应同时描述应力状态、应变率及二者的耦合作用。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29669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研究现状与不足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9412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第1章 绪论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03711" y="6626542"/>
            <a:ext cx="5863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9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61777" y="3743277"/>
            <a:ext cx="2308717" cy="2514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8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梁端无轴向约束，纯弯工况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61777" y="1394222"/>
            <a:ext cx="2688265" cy="2514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8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梁端轴向约束，连续性倒塌工况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358140" y="6092190"/>
            <a:ext cx="80507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节点冲击试验需要明确边界约束，避免将不同受力机制直接比较。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29669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研究现状与不足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9412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第1章 绪论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44561" y="6626542"/>
            <a:ext cx="6455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10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61777" y="3648027"/>
            <a:ext cx="2308717" cy="2514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8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梁端无轴向约束，纯弯工况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61777" y="1394222"/>
            <a:ext cx="2688265" cy="2514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8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梁端轴向约束，连续性倒塌工况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358140" y="6092190"/>
            <a:ext cx="749865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数值分析应在材料、响应时程和破坏模式三个层面完成验证。</a:t>
            </a:r>
          </a:p>
        </p:txBody>
      </p: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29669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研究现状与不足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9412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第1章 绪论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93853" y="6626542"/>
            <a:ext cx="5962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11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61777" y="1394222"/>
            <a:ext cx="2688265" cy="2514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8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梁端轴向约束，连续性倒塌工况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61777" y="3671078"/>
            <a:ext cx="2308717" cy="2514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8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梁端无轴向约束，纯弯工况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358140" y="6092190"/>
            <a:ext cx="80507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组件理论为承载力简化提供基础，动力强化和模式迁移仍需修正。</a:t>
            </a:r>
          </a:p>
        </p:txBody>
      </p: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研究路线与研究内容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9412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第1章 绪论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44561" y="6626542"/>
            <a:ext cx="6455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12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42193" y="1732255"/>
            <a:ext cx="5151089" cy="3224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7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应变和应力状态的耦合效应考虑不足，且缺乏微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42193" y="2042674"/>
            <a:ext cx="1257162" cy="3224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7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观机制支撑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42193" y="2710663"/>
            <a:ext cx="5151089" cy="3224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7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加载速率有限；动态响应机理尚不明晰；动力抗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2193" y="3019654"/>
            <a:ext cx="2960755" cy="3224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7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弯承载力预测方法仍需完善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44235" y="4222904"/>
            <a:ext cx="3797234" cy="3037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95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建立Q355钢耦合动态本构与断裂模型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44720" y="4943313"/>
            <a:ext cx="3387364" cy="2959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57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揭示钢框架梁柱节点动态响应机理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04442" y="5286604"/>
            <a:ext cx="4177607" cy="3224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7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建立端板节点动力抗弯承载力计算方法</a:t>
            </a:r>
          </a:p>
        </p:txBody>
      </p:sp>
      <p:sp>
        <p:nvSpPr>
          <p:cNvPr id="17" name="Rectangle 17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358140" y="6092190"/>
            <a:ext cx="102589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按照材料模型、节点试验、动力机理和实用计算的顺序，形成逐层验证的研究路线。</a:t>
            </a:r>
          </a:p>
        </p:txBody>
      </p:sp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5568" cy="6858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394835" y="532448"/>
            <a:ext cx="537336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98745" y="598170"/>
            <a:ext cx="79705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绪论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94835" y="143732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B6282D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98745" y="1503045"/>
            <a:ext cx="6520167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B6282D"/>
                </a:solidFill>
                <a:latin typeface="Arial"/>
                <a:ea typeface="Microsoft YaHei"/>
                <a:cs typeface="Arial"/>
              </a:rPr>
              <a:t>Q355钢应变依赖动力增大系数(SD-DIF)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94835" y="234219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98745" y="2407920"/>
            <a:ext cx="602330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Q355钢耦合动态断裂模型CD-LMVGM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94835" y="324707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98745" y="3312795"/>
            <a:ext cx="558165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钢框架梁柱节点动力冲击试验研究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94835" y="415194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98745" y="4217670"/>
            <a:ext cx="484555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钢框架梁柱节点动态响应机理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94835" y="505682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98745" y="5122545"/>
            <a:ext cx="668578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端板螺栓连接节点抗冲击承载力计算方法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94835" y="596169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98745" y="6027420"/>
            <a:ext cx="190119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结论与展望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325511" y="6597968"/>
            <a:ext cx="6455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595959"/>
                </a:solidFill>
                <a:latin typeface="Arial"/>
                <a:ea typeface="Microsoft YaHei"/>
                <a:cs typeface="Arial"/>
              </a:rPr>
              <a:t>13 / 80</a:t>
            </a:r>
          </a:p>
        </p:txBody>
      </p:sp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33809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宏观动力材性试验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0565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第2章 Q355钢应变依赖动力增大系数(SD-DIF)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44561" y="6626542"/>
            <a:ext cx="6455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14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Rectangle 10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58140" y="6092190"/>
            <a:ext cx="898923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多设备协同覆盖准静力到高速加载范围，获得Q355钢的全过程动力响应。</a:t>
            </a:r>
          </a:p>
        </p:txBody>
      </p:sp>
    </p:spTree>
  </p:cSld>
  <p:clrMapOvr>
    <a:masterClrMapping/>
  </p:clrMapOvr>
  <p:transition 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33809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宏观动力材性试验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0565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第2章 Q355钢应变依赖动力增大系数(SD-DIF)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44561" y="6626542"/>
            <a:ext cx="6455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15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579570" y="1708104"/>
            <a:ext cx="9998180" cy="2955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54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6种应力状态：轴对称单轴拉伸(A)、多轴拉伸(B、C)、纯剪切(D)、拉-剪复合(E)、平面应变多轴拉伸(F)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58140" y="6092190"/>
            <a:ext cx="694658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五种目标应变率与六类应力状态共同构成材料试验矩阵。</a:t>
            </a:r>
          </a:p>
        </p:txBody>
      </p:sp>
    </p:spTree>
  </p:cSld>
  <p:clrMapOvr>
    <a:masterClrMapping/>
  </p:clrMapOvr>
  <p:transition 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420909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宏观动力材性试验结果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0565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第2章 Q355钢应变依赖动力增大系数(SD-DIF)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44561" y="6626542"/>
            <a:ext cx="6455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16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333386" y="1359722"/>
            <a:ext cx="3144907" cy="43007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16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上升、随后持续降低。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58140" y="6092190"/>
            <a:ext cx="80507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材料强度随应变率提高而增大，其强化幅度随变形发展发生变化。</a:t>
            </a:r>
          </a:p>
        </p:txBody>
      </p:sp>
    </p:spTree>
  </p:cSld>
  <p:clrMapOvr>
    <a:masterClrMapping/>
  </p:clrMapOvr>
  <p:transition 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33809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微观组织表征方法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0565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第2章 Q355钢应变依赖动力增大系数(SD-DIF)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44561" y="6626542"/>
            <a:ext cx="6455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17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339491" y="2923761"/>
            <a:ext cx="1297376" cy="2516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8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扫描电子显微镜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08697" y="3812010"/>
            <a:ext cx="5844638" cy="2429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96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自动金相磨抛机)、抛光(机械抛光；振动抛光，Vibrotech 300振动抛光机)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358140" y="6092190"/>
            <a:ext cx="821634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通过SEM与EBSD，将宏观应力–应变响应与微观组织演化对应起来。</a:t>
            </a:r>
          </a:p>
        </p:txBody>
      </p:sp>
    </p:spTree>
  </p:cSld>
  <p:clrMapOvr>
    <a:masterClrMapping/>
  </p:clrMapOvr>
  <p:transition 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塑性变形机制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0565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第2章 Q355钢应变依赖动力增大系数(SD-DIF)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44561" y="6626542"/>
            <a:ext cx="6455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18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615013" y="1712757"/>
            <a:ext cx="5619760" cy="3105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28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多晶体塑性的变形：晶内变形：位错运动（滑移、孪生）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60906" y="2069249"/>
            <a:ext cx="7457313" cy="3224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7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晶间变形：克服晶界阻力（晶粒尺寸）和晶粒间协调变形（滑移系启动）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358140" y="6092190"/>
            <a:ext cx="777468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位错、晶粒与织构的演化为塑性变形机制分析提供了微观证据。</a:t>
            </a:r>
          </a:p>
        </p:txBody>
      </p:sp>
    </p:spTree>
  </p:cSld>
  <p:clrMapOvr>
    <a:masterClrMapping/>
  </p:clrMapOvr>
  <p:transition 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213883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应变率效应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0565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第2章 Q355钢应变依赖动力增大系数(SD-DIF)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44561" y="6626542"/>
            <a:ext cx="6455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19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635100" y="4374204"/>
            <a:ext cx="8871909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强度的宏观效应：应变率强化效应：应变率增加，强度提高；应变硬化效应：应变增加，强度提高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35370" y="5234216"/>
            <a:ext cx="7433462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随应变发展，晶粒尺寸降低；随应变率提高，晶粒尺寸增加，晶粒细化可提高强度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35367" y="5686292"/>
            <a:ext cx="5986723" cy="244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3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随应变发展和应变率提高，&lt;110&gt;丝织构组分（bcc拉拔织构）增加，提高强度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58140" y="6092190"/>
            <a:ext cx="86027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宏观强化与微观组织演化相互对应，应变率效应具有明确的材料机制。</a:t>
            </a:r>
          </a:p>
        </p:txBody>
      </p:sp>
    </p:spTree>
  </p:cSld>
  <p:clrMapOvr>
    <a:masterClrMapping/>
  </p:clrMapOvr>
  <p:transition 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462314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应变率效应的应变依赖性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0565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第2章 Q355钢应变依赖动力增大系数(SD-DIF)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20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885569" y="5236512"/>
            <a:ext cx="6560799" cy="2758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8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微观效应指标 (χ) 等效于宏观的DIF，且两者的值接近 → 指标χ的可靠性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84959" y="5661384"/>
            <a:ext cx="9293011" cy="2855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5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应变率效应与应变硬化耦合：应变增加，DIF值（宏观）和χ值（微观）减小，即，应变率效应降低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358140" y="6092190"/>
            <a:ext cx="816113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DIF随真应变发展而变化，采用单一常数难以描述全过程强化效应。</a:t>
            </a:r>
          </a:p>
        </p:txBody>
      </p:sp>
    </p:spTree>
  </p:cSld>
  <p:clrMapOvr>
    <a:masterClrMapping/>
  </p:clrMapOvr>
  <p:transition 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588600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应变依赖的动力增大系数SD-DIF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0565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第2章 Q355钢应变依赖动力增大系数(SD-DIF)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44561" y="6626542"/>
            <a:ext cx="6455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21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683972" y="4802100"/>
            <a:ext cx="4529341" cy="2842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99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宏观的DIF与微观的χ值均与应变呈指数函数关系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3925" y="5661803"/>
            <a:ext cx="3190084" cy="2849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2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全过程DIF模型：耦合应变率与应变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358140" y="6092190"/>
            <a:ext cx="83267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以应变与应变率为共同变量，构造具有应变依赖性的动力增大系数。</a:t>
            </a:r>
          </a:p>
        </p:txBody>
      </p:sp>
    </p:spTree>
  </p:cSld>
  <p:clrMapOvr>
    <a:masterClrMapping/>
  </p:clrMapOvr>
  <p:transition 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588600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应变依赖的动力增大系数SD-DIF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0565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第2章 Q355钢应变依赖动力增大系数(SD-DIF)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22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657331" y="4263228"/>
            <a:ext cx="6847696" cy="2837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96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应变率效应与应变硬化效应耦合：应变率效应（DIF）随塑性应变增加而降低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57236" y="4692377"/>
            <a:ext cx="3808659" cy="2852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4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应变率效应（DIF）与应变呈指数函数关系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57417" y="5554023"/>
            <a:ext cx="2887070" cy="28239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9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SD-DIF模型：耦合应变率与应变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58140" y="6092190"/>
            <a:ext cx="806452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SD-DIF用三个独立参数描述强化幅度及其随应变发展的衰减规律。</a:t>
            </a:r>
          </a:p>
        </p:txBody>
      </p:sp>
    </p:spTree>
  </p:cSld>
  <p:clrMapOvr>
    <a:masterClrMapping/>
  </p:clrMapOvr>
  <p:transition 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298764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SD-DIF精度验证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0565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第2章 Q355钢应变依赖动力增大系数(SD-DIF)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23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963331" y="4967992"/>
            <a:ext cx="5707327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对于多种材料：Q235钢、Q355钢、Q460钢、S690钢、S960钢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63331" y="5398046"/>
            <a:ext cx="6601218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相比传统非耦合模型：C-S、J-C、Z-A，本模型表现出一致的高拟合精度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358140" y="6092190"/>
            <a:ext cx="889262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跨材料对比验证表明，SD-DIF能够兼顾屈服、极限和全过程强化的预测。</a:t>
            </a:r>
          </a:p>
        </p:txBody>
      </p:sp>
    </p:spTree>
  </p:cSld>
  <p:clrMapOvr>
    <a:masterClrMapping/>
  </p:clrMapOvr>
  <p:transition 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5568" cy="6858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394835" y="532448"/>
            <a:ext cx="537336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98745" y="598170"/>
            <a:ext cx="79705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绪论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94835" y="143732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98745" y="1503045"/>
            <a:ext cx="6520167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Q355钢应变依赖动力增大系数(SD-DIF)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94835" y="234219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B6282D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98745" y="2407920"/>
            <a:ext cx="602330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B6282D"/>
                </a:solidFill>
                <a:latin typeface="Arial"/>
                <a:ea typeface="Microsoft YaHei"/>
                <a:cs typeface="Arial"/>
              </a:rPr>
              <a:t>Q355钢耦合动态断裂模型CD-LMVGM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94835" y="324707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98745" y="3312795"/>
            <a:ext cx="558165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钢框架梁柱节点动力冲击试验研究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94835" y="415194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98745" y="4217670"/>
            <a:ext cx="484555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钢框架梁柱节点动态响应机理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94835" y="505682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98745" y="5122545"/>
            <a:ext cx="668578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端板螺栓连接节点抗冲击承载力计算方法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94835" y="596169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98745" y="6027420"/>
            <a:ext cx="190119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结论与展望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76219" y="6597968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595959"/>
                </a:solidFill>
                <a:latin typeface="Arial"/>
                <a:ea typeface="Microsoft YaHei"/>
                <a:cs typeface="Arial"/>
              </a:rPr>
              <a:t>24 / 80</a:t>
            </a:r>
          </a:p>
        </p:txBody>
      </p:sp>
    </p:spTree>
  </p:cSld>
  <p:clrMapOvr>
    <a:masterClrMapping/>
  </p:clrMapOvr>
  <p:transition 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33809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宏观动力材性试验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7903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第3章 Q355钢耦合动态断裂模型CD-LMVGM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25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579570" y="1708104"/>
            <a:ext cx="9998180" cy="2955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54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6种应力状态：轴对称单轴拉伸(A)、多轴拉伸(B、C)、纯剪切(D)、拉-剪复合(E)、平面应变多轴拉伸(F)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58140" y="6092190"/>
            <a:ext cx="8878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不同几何试样形成六类应力状态，为动态断裂模型提供标定与验证数据。</a:t>
            </a:r>
          </a:p>
        </p:txBody>
      </p:sp>
    </p:spTree>
  </p:cSld>
  <p:clrMapOvr>
    <a:masterClrMapping/>
  </p:clrMapOvr>
  <p:transition 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动力试验结果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7903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第3章 Q355钢耦合动态断裂模型CD-LMVGM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26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Rectangle 10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58140" y="6092190"/>
            <a:ext cx="83267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拉伸主导与剪切主导状态下，断裂响应呈现不同的应变率依赖规律。</a:t>
            </a:r>
          </a:p>
        </p:txBody>
      </p:sp>
    </p:spTree>
  </p:cSld>
  <p:clrMapOvr>
    <a:masterClrMapping/>
  </p:clrMapOvr>
  <p:transition 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710746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宏观断裂特性的应变率与应力状态效应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7903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第3章 Q355钢耦合动态断裂模型CD-LMVGM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27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629308" y="5430450"/>
            <a:ext cx="3525483" cy="2139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3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应变率效应：应变率提高，A, B, C, F：延性增强；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48132" y="5392236"/>
            <a:ext cx="4145585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应力状态效应：应力三轴度提高，延性降低；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358140" y="6092190"/>
            <a:ext cx="83267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断裂应变的速率效应受应力状态调节，不能简单采用统一正向强化。</a:t>
            </a:r>
          </a:p>
        </p:txBody>
      </p:sp>
    </p:spTree>
  </p:cSld>
  <p:clrMapOvr>
    <a:masterClrMapping/>
  </p:clrMapOvr>
  <p:transition 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710746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微观组织演化的应变率与应力状态效应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7903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第3章 Q355钢耦合动态断裂模型CD-LMVGM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28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740446" y="4381729"/>
            <a:ext cx="6200508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应变率提高，位错密度增加，降低延性；晶粒尺寸增加，增强延性；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20867" y="4704340"/>
            <a:ext cx="6334078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A、C的滑移面织构组分增加，增强延性；E的相应组分降低，降低延性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40446" y="5107438"/>
            <a:ext cx="7659504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应力三轴度提高，从A到C，位错密度降低，晶粒尺寸增大，织构组分降低，延性降低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40446" y="5537492"/>
            <a:ext cx="7700602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Lode角参数提高，从E到A，位错密度增加，晶粒尺寸减小，织构组分增加，延性提高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06452" y="4788160"/>
            <a:ext cx="1268692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三者协同作用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06452" y="5218119"/>
            <a:ext cx="1268692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符合宏观规律</a:t>
            </a:r>
          </a:p>
        </p:txBody>
      </p:sp>
      <p:sp>
        <p:nvSpPr>
          <p:cNvPr id="16" name="Rectangle 16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358140" y="6092190"/>
            <a:ext cx="80507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微观组织对应变率和应力状态的响应，为宏观断裂差异提供解释。</a:t>
            </a:r>
          </a:p>
        </p:txBody>
      </p:sp>
    </p:spTree>
  </p:cSld>
  <p:clrMapOvr>
    <a:masterClrMapping/>
  </p:clrMapOvr>
  <p:transition 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545125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应变率与应力状态的耦合效应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7903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第3章 Q355钢耦合动态断裂模型CD-LMVGM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29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635033" y="4774163"/>
            <a:ext cx="6775657" cy="277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67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微观效应指标 (ζ) 等效于宏观的DFFS，且两者的值接近 → 指标ζ的可靠性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34528" y="5199926"/>
            <a:ext cx="7965174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应变率效应与应力状态耦合：应力三轴度增加，DFFS值（宏观）和ζ值（微观）增大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91775" y="5629980"/>
            <a:ext cx="5203357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Lode角参数增加，DFFS值（宏观）和ζ值（微观）增大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58140" y="6092190"/>
            <a:ext cx="83267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应变率效应的方向与幅度随应力状态变化，需要在模型中显式耦合。</a:t>
            </a:r>
          </a:p>
        </p:txBody>
      </p:sp>
    </p:spTree>
  </p:cSld>
  <p:clrMapOvr>
    <a:masterClrMapping/>
  </p:clrMapOvr>
  <p:transition 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33809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耦合动态断裂模型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7903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第3章 Q355钢耦合动态断裂模型CD-LMVGM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30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657436" y="4296885"/>
            <a:ext cx="9351804" cy="2820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8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应变率与应力状态效应耦合：拉伸主导应力状态下(A/B/C/F)应变率效应为正，剪切主导应力状态下为负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57255" y="4725305"/>
            <a:ext cx="6401899" cy="2849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2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应变率效应（DFFS值，宏观；ζ值，微观）与ln应变率近似线性相关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57198" y="5154873"/>
            <a:ext cx="8008327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应变率效应（DFFS值，宏观；和ζ值，微观）随应力三轴度和Lode角参数增加而增大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57198" y="5584927"/>
            <a:ext cx="5666228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耦合断裂模型：DFFS项耦合应变率、应力三轴度和Lode角参数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58140" y="6092190"/>
            <a:ext cx="86579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将应力状态相关的DFFS与准静力断裂面结合，构建耦合动态断裂模型。</a:t>
            </a:r>
          </a:p>
        </p:txBody>
      </p:sp>
    </p:spTree>
  </p:cSld>
  <p:clrMapOvr>
    <a:masterClrMapping/>
  </p:clrMapOvr>
  <p:transition 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710746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准静力下描述应力状态效应的断裂模型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7903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第3章 Q355钢耦合动态断裂模型CD-LMVGM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44561" y="6626542"/>
            <a:ext cx="6455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31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Rectangle 10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58140" y="6092190"/>
            <a:ext cx="925147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LMVGM作为准静力基准，描述应力三轴度与Lode角参数对应变极限的影响。</a:t>
            </a:r>
          </a:p>
        </p:txBody>
      </p:sp>
    </p:spTree>
  </p:cSld>
  <p:clrMapOvr>
    <a:masterClrMapping/>
  </p:clrMapOvr>
  <p:transition 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866015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应变率-应力状态耦合的断裂应变动力系数DFFS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7903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第3章 Q355钢耦合动态断裂模型CD-LMVGM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32 / 80</a:t>
            </a:r>
          </a:p>
        </p:txBody>
      </p:sp>
      <p:sp>
        <p:nvSpPr>
          <p:cNvPr id="9" name="Rectangle 9"/>
          <p:cNvSpPr/>
          <p:nvPr/>
        </p:nvSpPr>
        <p:spPr>
          <a:xfrm>
            <a:off x="209550" y="800100"/>
            <a:ext cx="577215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6172200" y="800100"/>
            <a:ext cx="581025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209550" y="800100"/>
            <a:ext cx="5772150" cy="3333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02895" y="860108"/>
            <a:ext cx="219267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耦合动态系数 DFFS</a:t>
            </a:r>
          </a:p>
        </p:txBody>
      </p:sp>
      <p:pic>
        <p:nvPicPr>
          <p:cNvPr id="13" name="Imag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552" y="1485900"/>
            <a:ext cx="4970145" cy="3667125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6356032" y="1314926"/>
            <a:ext cx="4414505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DFFS = 1 + (μR + λξ + η) ln ε̇*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58890" y="1901190"/>
            <a:ext cx="1903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•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68440" y="1901190"/>
            <a:ext cx="58161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R为应力三轴度，ξ为Lode角参数；ε̇*为归一化应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68440" y="2232660"/>
            <a:ext cx="8343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变率。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58890" y="2735580"/>
            <a:ext cx="1903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•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68440" y="2735580"/>
            <a:ext cx="50406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通过应力状态线性组合调节速率敏感程度。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58890" y="3238500"/>
            <a:ext cx="1903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•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68440" y="3238500"/>
            <a:ext cx="58293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能够同时表征拉伸主导的正应变率效应与剪切主导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8440" y="356997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的负应变率效应。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477000" y="4657725"/>
            <a:ext cx="1666875" cy="419100"/>
          </a:xfrm>
          <a:prstGeom prst="rect">
            <a:avLst/>
          </a:prstGeom>
          <a:solidFill>
            <a:srgbClr val="B6282D"/>
          </a:solidFill>
          <a:ln w="9525">
            <a:solidFill>
              <a:srgbClr val="D9D9D9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551295" y="4755832"/>
            <a:ext cx="18107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μ</a:t>
            </a:r>
          </a:p>
        </p:txBody>
      </p:sp>
      <p:sp>
        <p:nvSpPr>
          <p:cNvPr id="25" name="Rectangle 25"/>
          <p:cNvSpPr/>
          <p:nvPr/>
        </p:nvSpPr>
        <p:spPr>
          <a:xfrm>
            <a:off x="8143875" y="4657725"/>
            <a:ext cx="1666875" cy="419100"/>
          </a:xfrm>
          <a:prstGeom prst="rect">
            <a:avLst/>
          </a:prstGeom>
          <a:solidFill>
            <a:srgbClr val="B6282D"/>
          </a:solidFill>
          <a:ln w="9525">
            <a:solidFill>
              <a:srgbClr val="D9D9D9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218170" y="4755832"/>
            <a:ext cx="18107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λ</a:t>
            </a:r>
          </a:p>
        </p:txBody>
      </p:sp>
      <p:sp>
        <p:nvSpPr>
          <p:cNvPr id="27" name="Rectangle 27"/>
          <p:cNvSpPr/>
          <p:nvPr/>
        </p:nvSpPr>
        <p:spPr>
          <a:xfrm>
            <a:off x="9810750" y="4657725"/>
            <a:ext cx="1666875" cy="419100"/>
          </a:xfrm>
          <a:prstGeom prst="rect">
            <a:avLst/>
          </a:prstGeom>
          <a:solidFill>
            <a:srgbClr val="B6282D"/>
          </a:solidFill>
          <a:ln w="9525">
            <a:solidFill>
              <a:srgbClr val="D9D9D9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9885045" y="4755832"/>
            <a:ext cx="18107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η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477000" y="5076825"/>
            <a:ext cx="1666875" cy="4191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6551295" y="5174932"/>
            <a:ext cx="64436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0.021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143875" y="5076825"/>
            <a:ext cx="1666875" cy="4191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218170" y="5174932"/>
            <a:ext cx="58412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0.011</a:t>
            </a:r>
          </a:p>
        </p:txBody>
      </p:sp>
      <p:sp>
        <p:nvSpPr>
          <p:cNvPr id="33" name="Rectangle 33"/>
          <p:cNvSpPr/>
          <p:nvPr/>
        </p:nvSpPr>
        <p:spPr>
          <a:xfrm>
            <a:off x="9810750" y="5076825"/>
            <a:ext cx="1666875" cy="4191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9885045" y="5174932"/>
            <a:ext cx="77690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−0.014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402705" y="5559742"/>
            <a:ext cx="30115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95959"/>
                </a:solidFill>
                <a:latin typeface="Arial"/>
                <a:ea typeface="Microsoft YaHei"/>
                <a:cs typeface="Arial"/>
              </a:rPr>
              <a:t>来源：论文式(3.14)，PDF第124页</a:t>
            </a:r>
          </a:p>
        </p:txBody>
      </p:sp>
      <p:sp>
        <p:nvSpPr>
          <p:cNvPr id="36" name="Rectangle 36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358140" y="6092190"/>
            <a:ext cx="7553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三参数DFFS显式引入应力状态，统一描述正、负应变率效应。</a:t>
            </a:r>
          </a:p>
        </p:txBody>
      </p:sp>
    </p:spTree>
  </p:cSld>
  <p:clrMapOvr>
    <a:masterClrMapping/>
  </p:clrMapOvr>
  <p:transition 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866015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应变率-应力状态耦合的断裂应变动力系数DFFS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7903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第3章 Q355钢耦合动态断裂模型CD-LMVGM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33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730" y="847725"/>
            <a:ext cx="5835015" cy="4857750"/>
          </a:xfrm>
          <a:prstGeom prst="rect">
            <a:avLst/>
          </a:prstGeom>
        </p:spPr>
      </p:pic>
      <p:sp>
        <p:nvSpPr>
          <p:cNvPr id="10" name="Rectangle 10"/>
          <p:cNvSpPr/>
          <p:nvPr/>
        </p:nvSpPr>
        <p:spPr>
          <a:xfrm>
            <a:off x="7639050" y="838200"/>
            <a:ext cx="4248150" cy="3333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732395" y="89820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综合评价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705725" y="1400175"/>
            <a:ext cx="2047875" cy="542925"/>
          </a:xfrm>
          <a:prstGeom prst="rect">
            <a:avLst/>
          </a:prstGeom>
          <a:solidFill>
            <a:srgbClr val="B6282D"/>
          </a:solidFill>
          <a:ln w="9525">
            <a:solidFill>
              <a:srgbClr val="D9D9D9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7780020" y="14982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评价指标</a:t>
            </a:r>
          </a:p>
        </p:txBody>
      </p:sp>
      <p:sp>
        <p:nvSpPr>
          <p:cNvPr id="14" name="Rectangle 14"/>
          <p:cNvSpPr/>
          <p:nvPr/>
        </p:nvSpPr>
        <p:spPr>
          <a:xfrm>
            <a:off x="9753600" y="1400175"/>
            <a:ext cx="2095500" cy="542925"/>
          </a:xfrm>
          <a:prstGeom prst="rect">
            <a:avLst/>
          </a:prstGeom>
          <a:solidFill>
            <a:srgbClr val="B6282D"/>
          </a:solidFill>
          <a:ln w="9525">
            <a:solidFill>
              <a:srgbClr val="D9D9D9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9827895" y="1498282"/>
            <a:ext cx="110464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耦合DFFS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705725" y="1943100"/>
            <a:ext cx="2047875" cy="542925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780020" y="2041208"/>
            <a:ext cx="14878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独立参数数量</a:t>
            </a:r>
          </a:p>
        </p:txBody>
      </p:sp>
      <p:sp>
        <p:nvSpPr>
          <p:cNvPr id="18" name="Rectangle 18"/>
          <p:cNvSpPr/>
          <p:nvPr/>
        </p:nvSpPr>
        <p:spPr>
          <a:xfrm>
            <a:off x="9753600" y="1943100"/>
            <a:ext cx="2095500" cy="542925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827895" y="2041208"/>
            <a:ext cx="17445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705725" y="2486025"/>
            <a:ext cx="2047875" cy="5429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780020" y="2584132"/>
            <a:ext cx="7046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REavg</a:t>
            </a:r>
          </a:p>
        </p:txBody>
      </p:sp>
      <p:sp>
        <p:nvSpPr>
          <p:cNvPr id="22" name="Rectangle 22"/>
          <p:cNvSpPr/>
          <p:nvPr/>
        </p:nvSpPr>
        <p:spPr>
          <a:xfrm>
            <a:off x="9753600" y="2486025"/>
            <a:ext cx="2095500" cy="5429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9827895" y="2584132"/>
            <a:ext cx="58412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5.11%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705725" y="3028950"/>
            <a:ext cx="2047875" cy="542925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780020" y="3127058"/>
            <a:ext cx="75280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RMSRE</a:t>
            </a:r>
          </a:p>
        </p:txBody>
      </p:sp>
      <p:sp>
        <p:nvSpPr>
          <p:cNvPr id="26" name="Rectangle 26"/>
          <p:cNvSpPr/>
          <p:nvPr/>
        </p:nvSpPr>
        <p:spPr>
          <a:xfrm>
            <a:off x="9753600" y="3028950"/>
            <a:ext cx="2095500" cy="542925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827895" y="3127058"/>
            <a:ext cx="7046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8.42%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705725" y="3571875"/>
            <a:ext cx="2047875" cy="5429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780020" y="3669982"/>
            <a:ext cx="6202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RMSE</a:t>
            </a:r>
          </a:p>
        </p:txBody>
      </p:sp>
      <p:sp>
        <p:nvSpPr>
          <p:cNvPr id="30" name="Rectangle 30"/>
          <p:cNvSpPr/>
          <p:nvPr/>
        </p:nvSpPr>
        <p:spPr>
          <a:xfrm>
            <a:off x="9753600" y="3571875"/>
            <a:ext cx="2095500" cy="5429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9827895" y="3669982"/>
            <a:ext cx="64436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8.71%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740968" y="4423886"/>
            <a:ext cx="4578668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相对误差、相对均方根误差与均方根误差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740968" y="4741545"/>
            <a:ext cx="3570922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分别评价；避免混用不同口径。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36205" y="5626418"/>
            <a:ext cx="24003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95959"/>
                </a:solidFill>
                <a:latin typeface="Arial"/>
                <a:ea typeface="Microsoft YaHei"/>
                <a:cs typeface="Arial"/>
              </a:rPr>
              <a:t>来源：论文PDF第125–126页</a:t>
            </a:r>
          </a:p>
        </p:txBody>
      </p:sp>
      <p:sp>
        <p:nvSpPr>
          <p:cNvPr id="35" name="Rectangle 35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358140" y="6092190"/>
            <a:ext cx="86579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耦合DFFS采用三个独立常数，在精度与模型复杂度之间取得较好平衡。</a:t>
            </a:r>
          </a:p>
        </p:txBody>
      </p:sp>
    </p:spTree>
  </p:cSld>
  <p:clrMapOvr>
    <a:masterClrMapping/>
  </p:clrMapOvr>
  <p:transition 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53684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耦合动态断裂模型CD-LMVGM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7903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第3章 Q355钢耦合动态断裂模型CD-LMVGM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34 / 80</a:t>
            </a:r>
          </a:p>
        </p:txBody>
      </p:sp>
      <p:sp>
        <p:nvSpPr>
          <p:cNvPr id="9" name="Rectangle 9"/>
          <p:cNvSpPr/>
          <p:nvPr/>
        </p:nvSpPr>
        <p:spPr>
          <a:xfrm>
            <a:off x="190500" y="819150"/>
            <a:ext cx="11791950" cy="89535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918012" y="1085374"/>
            <a:ext cx="8355977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75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εf = α exp(−βR + γξ) [1 + (μR + λξ + η) ln ε̇*]</a:t>
            </a:r>
          </a:p>
        </p:txBody>
      </p:sp>
      <p:pic>
        <p:nvPicPr>
          <p:cNvPr id="11" name="Imag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718" y="1876425"/>
            <a:ext cx="4188142" cy="4000500"/>
          </a:xfrm>
          <a:prstGeom prst="rect">
            <a:avLst/>
          </a:prstGeom>
        </p:spPr>
      </p:pic>
      <p:sp>
        <p:nvSpPr>
          <p:cNvPr id="12" name="Rectangle 12"/>
          <p:cNvSpPr/>
          <p:nvPr/>
        </p:nvSpPr>
        <p:spPr>
          <a:xfrm>
            <a:off x="7229475" y="1895475"/>
            <a:ext cx="4610100" cy="3333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322820" y="1955482"/>
            <a:ext cx="181313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六参数耦合模型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324725" y="2409825"/>
            <a:ext cx="1085850" cy="409575"/>
          </a:xfrm>
          <a:prstGeom prst="rect">
            <a:avLst/>
          </a:prstGeom>
          <a:solidFill>
            <a:srgbClr val="B6282D"/>
          </a:solidFill>
          <a:ln w="9525">
            <a:solidFill>
              <a:srgbClr val="D9D9D9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7399020" y="2507932"/>
            <a:ext cx="5479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参数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410575" y="2409825"/>
            <a:ext cx="1085850" cy="409575"/>
          </a:xfrm>
          <a:prstGeom prst="rect">
            <a:avLst/>
          </a:prstGeom>
          <a:solidFill>
            <a:srgbClr val="B6282D"/>
          </a:solidFill>
          <a:ln w="9525">
            <a:solidFill>
              <a:srgbClr val="D9D9D9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8484870" y="2507932"/>
            <a:ext cx="18107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α</a:t>
            </a:r>
          </a:p>
        </p:txBody>
      </p:sp>
      <p:sp>
        <p:nvSpPr>
          <p:cNvPr id="18" name="Rectangle 18"/>
          <p:cNvSpPr/>
          <p:nvPr/>
        </p:nvSpPr>
        <p:spPr>
          <a:xfrm>
            <a:off x="9496425" y="2409825"/>
            <a:ext cx="1085850" cy="409575"/>
          </a:xfrm>
          <a:prstGeom prst="rect">
            <a:avLst/>
          </a:prstGeom>
          <a:solidFill>
            <a:srgbClr val="B6282D"/>
          </a:solidFill>
          <a:ln w="9525">
            <a:solidFill>
              <a:srgbClr val="D9D9D9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570720" y="2507932"/>
            <a:ext cx="18107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β</a:t>
            </a:r>
          </a:p>
        </p:txBody>
      </p:sp>
      <p:sp>
        <p:nvSpPr>
          <p:cNvPr id="20" name="Rectangle 20"/>
          <p:cNvSpPr/>
          <p:nvPr/>
        </p:nvSpPr>
        <p:spPr>
          <a:xfrm>
            <a:off x="10582275" y="2409825"/>
            <a:ext cx="1085850" cy="409575"/>
          </a:xfrm>
          <a:prstGeom prst="rect">
            <a:avLst/>
          </a:prstGeom>
          <a:solidFill>
            <a:srgbClr val="B6282D"/>
          </a:solidFill>
          <a:ln w="9525">
            <a:solidFill>
              <a:srgbClr val="D9D9D9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10656570" y="2507932"/>
            <a:ext cx="18107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γ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324725" y="2819400"/>
            <a:ext cx="1085850" cy="409575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399020" y="2917508"/>
            <a:ext cx="52387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取值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410575" y="2819400"/>
            <a:ext cx="1085850" cy="409575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484870" y="2917508"/>
            <a:ext cx="5118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1.59</a:t>
            </a:r>
          </a:p>
        </p:txBody>
      </p:sp>
      <p:sp>
        <p:nvSpPr>
          <p:cNvPr id="26" name="Rectangle 26"/>
          <p:cNvSpPr/>
          <p:nvPr/>
        </p:nvSpPr>
        <p:spPr>
          <a:xfrm>
            <a:off x="9496425" y="2819400"/>
            <a:ext cx="1085850" cy="409575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570720" y="2917508"/>
            <a:ext cx="7046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0.780</a:t>
            </a:r>
          </a:p>
        </p:txBody>
      </p:sp>
      <p:sp>
        <p:nvSpPr>
          <p:cNvPr id="28" name="Rectangle 28"/>
          <p:cNvSpPr/>
          <p:nvPr/>
        </p:nvSpPr>
        <p:spPr>
          <a:xfrm>
            <a:off x="10582275" y="2819400"/>
            <a:ext cx="1085850" cy="409575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656570" y="2917508"/>
            <a:ext cx="7046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0.004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324725" y="3228975"/>
            <a:ext cx="108585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7399020" y="3327082"/>
            <a:ext cx="52387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参数</a:t>
            </a:r>
          </a:p>
        </p:txBody>
      </p:sp>
      <p:sp>
        <p:nvSpPr>
          <p:cNvPr id="32" name="Rectangle 32"/>
          <p:cNvSpPr/>
          <p:nvPr/>
        </p:nvSpPr>
        <p:spPr>
          <a:xfrm>
            <a:off x="8410575" y="3228975"/>
            <a:ext cx="108585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8484870" y="3327082"/>
            <a:ext cx="17445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μ</a:t>
            </a:r>
          </a:p>
        </p:txBody>
      </p:sp>
      <p:sp>
        <p:nvSpPr>
          <p:cNvPr id="34" name="Rectangle 34"/>
          <p:cNvSpPr/>
          <p:nvPr/>
        </p:nvSpPr>
        <p:spPr>
          <a:xfrm>
            <a:off x="9496425" y="3228975"/>
            <a:ext cx="108585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9570720" y="3327082"/>
            <a:ext cx="17445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λ</a:t>
            </a:r>
          </a:p>
        </p:txBody>
      </p:sp>
      <p:sp>
        <p:nvSpPr>
          <p:cNvPr id="36" name="Rectangle 36"/>
          <p:cNvSpPr/>
          <p:nvPr/>
        </p:nvSpPr>
        <p:spPr>
          <a:xfrm>
            <a:off x="10582275" y="3228975"/>
            <a:ext cx="108585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0656570" y="3327082"/>
            <a:ext cx="17445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η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324725" y="3638550"/>
            <a:ext cx="1085850" cy="409575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7399020" y="3736658"/>
            <a:ext cx="52387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取值</a:t>
            </a:r>
          </a:p>
        </p:txBody>
      </p:sp>
      <p:sp>
        <p:nvSpPr>
          <p:cNvPr id="40" name="Rectangle 40"/>
          <p:cNvSpPr/>
          <p:nvPr/>
        </p:nvSpPr>
        <p:spPr>
          <a:xfrm>
            <a:off x="8410575" y="3638550"/>
            <a:ext cx="1085850" cy="409575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8484870" y="3736658"/>
            <a:ext cx="64436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0.021</a:t>
            </a:r>
          </a:p>
        </p:txBody>
      </p:sp>
      <p:sp>
        <p:nvSpPr>
          <p:cNvPr id="42" name="Rectangle 42"/>
          <p:cNvSpPr/>
          <p:nvPr/>
        </p:nvSpPr>
        <p:spPr>
          <a:xfrm>
            <a:off x="9496425" y="3638550"/>
            <a:ext cx="1085850" cy="409575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9570720" y="3736658"/>
            <a:ext cx="58412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0.011</a:t>
            </a:r>
          </a:p>
        </p:txBody>
      </p:sp>
      <p:sp>
        <p:nvSpPr>
          <p:cNvPr id="44" name="Rectangle 44"/>
          <p:cNvSpPr/>
          <p:nvPr/>
        </p:nvSpPr>
        <p:spPr>
          <a:xfrm>
            <a:off x="10582275" y="3638550"/>
            <a:ext cx="1085850" cy="409575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10656570" y="3736658"/>
            <a:ext cx="77690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−0.014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400925" y="4371975"/>
            <a:ext cx="13413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7.45%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419975" y="4848225"/>
            <a:ext cx="174688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95959"/>
                </a:solidFill>
                <a:latin typeface="Arial"/>
                <a:ea typeface="Microsoft YaHei"/>
                <a:cs typeface="Arial"/>
              </a:rPr>
              <a:t>Q355钢预测RMSE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417118" y="5128736"/>
            <a:ext cx="4503087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准静力断裂面 × 应变率–应力状态耦合项</a:t>
            </a:r>
          </a:p>
        </p:txBody>
      </p:sp>
      <p:sp>
        <p:nvSpPr>
          <p:cNvPr id="49" name="Rectangle 49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358140" y="6092190"/>
            <a:ext cx="842336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CD-LMVGM采用六个独立参数，Q355钢断裂应变预测RMSE为7.45%。</a:t>
            </a:r>
          </a:p>
        </p:txBody>
      </p:sp>
    </p:spTree>
  </p:cSld>
  <p:clrMapOvr>
    <a:masterClrMapping/>
  </p:clrMapOvr>
  <p:transition 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545125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耦合动态断裂模型的精度验证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7903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第3章 Q355钢耦合动态断裂模型CD-LMVGM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35 / 80</a:t>
            </a:r>
          </a:p>
        </p:txBody>
      </p:sp>
      <p:sp>
        <p:nvSpPr>
          <p:cNvPr id="9" name="Rectangle 9"/>
          <p:cNvSpPr/>
          <p:nvPr/>
        </p:nvSpPr>
        <p:spPr>
          <a:xfrm>
            <a:off x="190500" y="819150"/>
            <a:ext cx="11791950" cy="3333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83845" y="879158"/>
            <a:ext cx="383738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基于本文与文献数据的多材料对比</a:t>
            </a:r>
          </a:p>
        </p:txBody>
      </p:sp>
      <p:pic>
        <p:nvPicPr>
          <p:cNvPr id="11" name="Imag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5" y="1495425"/>
            <a:ext cx="7781925" cy="3982402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8220075" y="1809750"/>
            <a:ext cx="13413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6.77%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39125" y="2286000"/>
            <a:ext cx="18783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95959"/>
                </a:solidFill>
                <a:latin typeface="Arial"/>
                <a:ea typeface="Microsoft YaHei"/>
                <a:cs typeface="Arial"/>
              </a:rPr>
              <a:t>六种材料平均RMSE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16265" y="3006090"/>
            <a:ext cx="1903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•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25815" y="3006090"/>
            <a:ext cx="37261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以多材料数据检验模型的可迁移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25815" y="3337560"/>
            <a:ext cx="5715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性。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16265" y="3830955"/>
            <a:ext cx="1903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•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25815" y="3830955"/>
            <a:ext cx="37261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同一评价口径比较预测精度与离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25815" y="4162425"/>
            <a:ext cx="8343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散性。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16265" y="4655820"/>
            <a:ext cx="1903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•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25815" y="4655820"/>
            <a:ext cx="37261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新增材料仍应重新标定模型参数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25815" y="4987290"/>
            <a:ext cx="3086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35280" y="5683568"/>
            <a:ext cx="28439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95959"/>
                </a:solidFill>
                <a:latin typeface="Arial"/>
                <a:ea typeface="Microsoft YaHei"/>
                <a:cs typeface="Arial"/>
              </a:rPr>
              <a:t>来源：论文图3.36，PDF第129页</a:t>
            </a:r>
          </a:p>
        </p:txBody>
      </p:sp>
      <p:sp>
        <p:nvSpPr>
          <p:cNvPr id="24" name="Rectangle 24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358140" y="6092190"/>
            <a:ext cx="914105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多材料验证中，CD-LMVGM的平均RMSE为6.77%，体现了模型的适用潜力。</a:t>
            </a:r>
          </a:p>
        </p:txBody>
      </p:sp>
    </p:spTree>
  </p:cSld>
  <p:clrMapOvr>
    <a:masterClrMapping/>
  </p:clrMapOvr>
  <p:transition 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5568" cy="6858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394835" y="532448"/>
            <a:ext cx="537336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98745" y="598170"/>
            <a:ext cx="79705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绪论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94835" y="143732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98745" y="1503045"/>
            <a:ext cx="6520167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Q355钢应变依赖动力增大系数(SD-DIF)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94835" y="234219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98745" y="2407920"/>
            <a:ext cx="602330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Q355钢耦合动态断裂模型CD-LMVGM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94835" y="324707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B6282D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98745" y="3312795"/>
            <a:ext cx="558165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B6282D"/>
                </a:solidFill>
                <a:latin typeface="Arial"/>
                <a:ea typeface="Microsoft YaHei"/>
                <a:cs typeface="Arial"/>
              </a:rPr>
              <a:t>钢框架梁柱节点动力冲击试验研究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94835" y="415194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98745" y="4217670"/>
            <a:ext cx="484555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钢框架梁柱节点动态响应机理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94835" y="505682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98745" y="5122545"/>
            <a:ext cx="668578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端板螺栓连接节点抗冲击承载力计算方法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94835" y="596169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98745" y="6027420"/>
            <a:ext cx="190119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结论与展望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76219" y="6597968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595959"/>
                </a:solidFill>
                <a:latin typeface="Arial"/>
                <a:ea typeface="Microsoft YaHei"/>
                <a:cs typeface="Arial"/>
              </a:rPr>
              <a:t>36 / 80</a:t>
            </a:r>
          </a:p>
        </p:txBody>
      </p:sp>
    </p:spTree>
  </p:cSld>
  <p:clrMapOvr>
    <a:masterClrMapping/>
  </p:clrMapOvr>
  <p:transition 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试验总体方案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5537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第4章 钢框架梁柱节点动力冲击试验研究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37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440638" y="1370576"/>
            <a:ext cx="10212437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6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获取节点的全程弯矩-转角动态响应，揭示节点的动态响应机理，分析节点受动载作用相比静载时的性能变化规律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58140" y="6092190"/>
            <a:ext cx="9154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三类典型梁柱节点采用相互对应的静力与动力试验，比较连接构造的影响。</a:t>
            </a:r>
          </a:p>
        </p:txBody>
      </p:sp>
    </p:spTree>
  </p:cSld>
  <p:clrMapOvr>
    <a:masterClrMapping/>
  </p:clrMapOvr>
  <p:transition 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试件试件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5537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第4章 钢框架梁柱节点动力冲击试验研究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38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374829" y="1203736"/>
            <a:ext cx="1170784" cy="2516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8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梁柱节点类型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55080" y="1203736"/>
            <a:ext cx="1170784" cy="2516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8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梁柱连接方式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74829" y="1566543"/>
            <a:ext cx="1116530" cy="2516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8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端板螺栓连接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66462" y="1473408"/>
            <a:ext cx="4079669" cy="2497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29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梁-端板：梁翼缘全熔透坡口焊，梁腹板双面角焊缝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03445" y="1660650"/>
            <a:ext cx="4697289" cy="2516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8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端板-柱翼缘：端板220×580×6mm，配12.9级M27高强螺栓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17476" y="1953735"/>
            <a:ext cx="1478223" cy="2516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8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顶底腹板角钢连接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068273" y="1953735"/>
            <a:ext cx="5058982" cy="2516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8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梁-柱翼缘：热轧等边角钢110×110×7mm，配12.9级M27高强螺栓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74734" y="2340831"/>
            <a:ext cx="1116530" cy="2516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8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栓焊混合连接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136730" y="2247952"/>
            <a:ext cx="2998813" cy="2494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28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梁翼缘-柱翼缘：全熔透坡口对接焊缝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43305" y="2435033"/>
            <a:ext cx="5384505" cy="2516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38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梁腹板-柱翼缘：单侧剪切板150×200×10mm，配12.9级M16高强螺栓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00842" y="3019082"/>
            <a:ext cx="9056852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动力下柱顶加固：上半段40厚的Q690钢，其余部分仍使用Q355的钢材，以保证高速冲击下保持弹性</a:t>
            </a:r>
          </a:p>
        </p:txBody>
      </p:sp>
      <p:sp>
        <p:nvSpPr>
          <p:cNvPr id="21" name="Rectangle 21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358140" y="6092190"/>
            <a:ext cx="80507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统一梁柱截面和主要几何条件，突出端板连接构造对响应的影响。</a:t>
            </a:r>
          </a:p>
        </p:txBody>
      </p:sp>
    </p:spTree>
  </p:cSld>
  <p:clrMapOvr>
    <a:masterClrMapping/>
  </p:clrMapOvr>
  <p:transition 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试件设计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5537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第4章 钢框架梁柱节点动力冲击试验研究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39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Rectangle 10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58140" y="6092190"/>
            <a:ext cx="83267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角钢与栓焊混合节点形成不同传力路径，为比较破坏机制提供基础。</a:t>
            </a:r>
          </a:p>
        </p:txBody>
      </p:sp>
    </p:spTree>
  </p:cSld>
  <p:clrMapOvr>
    <a:masterClrMapping/>
  </p:clrMapOvr>
  <p:transition 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动力试验装置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5537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第4章 钢框架梁柱节点动力冲击试验研究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40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Rectangle 10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58140" y="6092190"/>
            <a:ext cx="80507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空气炮冲击装置与防护、限位措施共同保证动力试验的可实施性。</a:t>
            </a:r>
          </a:p>
        </p:txBody>
      </p:sp>
    </p:spTree>
  </p:cSld>
  <p:clrMapOvr>
    <a:masterClrMapping/>
  </p:clrMapOvr>
  <p:transition 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静力试验装置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5537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第4章 钢框架梁柱节点动力冲击试验研究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44561" y="6626542"/>
            <a:ext cx="6455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41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Rectangle 10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58140" y="6092190"/>
            <a:ext cx="639451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准静力试验提供基准承载力、变形能力与破坏模式。</a:t>
            </a:r>
          </a:p>
        </p:txBody>
      </p:sp>
    </p:spTree>
  </p:cSld>
  <p:clrMapOvr>
    <a:masterClrMapping/>
  </p:clrMapOvr>
  <p:transition 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测量方案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5537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第4章 钢框架梁柱节点动力冲击试验研究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42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Rectangle 10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58140" y="6092190"/>
            <a:ext cx="958271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结合支反力、加速度与运动学测量，分离惯性贡献并重构节点弯矩–转角关系。</a:t>
            </a:r>
          </a:p>
        </p:txBody>
      </p:sp>
    </p:spTree>
  </p:cSld>
  <p:clrMapOvr>
    <a:masterClrMapping/>
  </p:clrMapOvr>
  <p:transition 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609303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端板螺栓连接节点—静力试验结果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5537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第4章 钢框架梁柱节点动力冲击试验研究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43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Rectangle 10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58140" y="6092190"/>
            <a:ext cx="694658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端板静力试验明确端板塑性发展与螺栓受力的相互作用。</a:t>
            </a:r>
          </a:p>
        </p:txBody>
      </p:sp>
    </p:spTree>
  </p:cSld>
  <p:clrMapOvr>
    <a:masterClrMapping/>
  </p:clrMapOvr>
  <p:transition 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609303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端板螺栓连接节点—动力试验结果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5537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第4章 钢框架梁柱节点动力冲击试验研究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44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Rectangle 10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58140" y="6092190"/>
            <a:ext cx="933428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端板节点动力峰值弯矩较自身静力基准约提高23%，变形能力仍需单独评价。</a:t>
            </a:r>
          </a:p>
        </p:txBody>
      </p:sp>
    </p:spTree>
  </p:cSld>
  <p:clrMapOvr>
    <a:masterClrMapping/>
  </p:clrMapOvr>
  <p:transition 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692113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顶底腹板角钢连接节点—静力试验结果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5537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第4章 钢框架梁柱节点动力冲击试验研究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45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Rectangle 10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58140" y="6092190"/>
            <a:ext cx="694658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角钢变形与螺栓受力共同控制静力承载与塑性发展过程。</a:t>
            </a:r>
          </a:p>
        </p:txBody>
      </p:sp>
    </p:spTree>
  </p:cSld>
  <p:clrMapOvr>
    <a:masterClrMapping/>
  </p:clrMapOvr>
  <p:transition 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692113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顶底腹板角钢连接节点—动力试验结果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5537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第4章 钢框架梁柱节点动力冲击试验研究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46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Rectangle 10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58140" y="6092190"/>
            <a:ext cx="926527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角钢节点动力峰值弯矩较自身静力基准约提高18%，响应呈现明显时序特征。</a:t>
            </a:r>
          </a:p>
        </p:txBody>
      </p:sp>
    </p:spTree>
  </p:cSld>
  <p:clrMapOvr>
    <a:masterClrMapping/>
  </p:clrMapOvr>
  <p:transition 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609303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栓焊混合连接节点—静力试验结果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5537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第4章 钢框架梁柱节点动力冲击试验研究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47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Rectangle 10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58140" y="6092190"/>
            <a:ext cx="777468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栓焊混合节点的焊缝、梁翼缘和螺栓共同决定其静力破坏路径。</a:t>
            </a:r>
          </a:p>
        </p:txBody>
      </p:sp>
    </p:spTree>
  </p:cSld>
  <p:clrMapOvr>
    <a:masterClrMapping/>
  </p:clrMapOvr>
  <p:transition 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609303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栓焊混合连接节点—动力试验结果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5537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第4章 钢框架梁柱节点动力冲击试验研究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48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Rectangle 10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58140" y="6092190"/>
            <a:ext cx="926527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栓焊混合节点动力峰值弯矩较自身静力基准约提高16%，局部损伤仍需关注。</a:t>
            </a:r>
          </a:p>
        </p:txBody>
      </p:sp>
    </p:spTree>
  </p:cSld>
  <p:clrMapOvr>
    <a:masterClrMapping/>
  </p:clrMapOvr>
  <p:transition 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5568" cy="6858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394835" y="532448"/>
            <a:ext cx="537336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98745" y="598170"/>
            <a:ext cx="79705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绪论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94835" y="143732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98745" y="1503045"/>
            <a:ext cx="6520167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Q355钢应变依赖动力增大系数(SD-DIF)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94835" y="234219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98745" y="2407920"/>
            <a:ext cx="602330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Q355钢耦合动态断裂模型CD-LMVGM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94835" y="324707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98745" y="3312795"/>
            <a:ext cx="558165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钢框架梁柱节点动力冲击试验研究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94835" y="415194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B6282D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98745" y="4217670"/>
            <a:ext cx="484555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B6282D"/>
                </a:solidFill>
                <a:latin typeface="Arial"/>
                <a:ea typeface="Microsoft YaHei"/>
                <a:cs typeface="Arial"/>
              </a:rPr>
              <a:t>钢框架梁柱节点动态响应机理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94835" y="505682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98745" y="5122545"/>
            <a:ext cx="668578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端板螺栓连接节点抗冲击承载力计算方法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94835" y="596169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98745" y="6027420"/>
            <a:ext cx="190119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结论与展望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76219" y="6597968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595959"/>
                </a:solidFill>
                <a:latin typeface="Arial"/>
                <a:ea typeface="Microsoft YaHei"/>
                <a:cs typeface="Arial"/>
              </a:rPr>
              <a:t>49 / 80</a:t>
            </a:r>
          </a:p>
        </p:txBody>
      </p:sp>
    </p:spTree>
  </p:cSld>
  <p:clrMapOvr>
    <a:masterClrMapping/>
  </p:clrMapOvr>
  <p:transition 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485087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有限元模型验证—端板节点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1593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第5章 钢框架梁柱节点动态响应机理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50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Rectangle 10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58140" y="6092190"/>
            <a:ext cx="970692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端板节点模型在曲线响应与破坏形态两方面与试验对比，为参数分析建立基础。</a:t>
            </a:r>
          </a:p>
        </p:txBody>
      </p:sp>
    </p:spTree>
  </p:cSld>
  <p:clrMapOvr>
    <a:masterClrMapping/>
  </p:clrMapOvr>
  <p:transition 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485087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有限元模型验证—角钢节点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1593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第5章 钢框架梁柱节点动态响应机理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44561" y="6626542"/>
            <a:ext cx="6455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51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Rectangle 10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58140" y="6092190"/>
            <a:ext cx="83267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角钢节点的曲线与局部损伤验证，支撑连接构造效应的进一步分析。</a:t>
            </a:r>
          </a:p>
        </p:txBody>
      </p:sp>
    </p:spTree>
  </p:cSld>
  <p:clrMapOvr>
    <a:masterClrMapping/>
  </p:clrMapOvr>
  <p:transition 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485087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有限元模型验证—栓焊节点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1593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第5章 钢框架梁柱节点动态响应机理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52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Rectangle 10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58140" y="6092190"/>
            <a:ext cx="722261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栓焊混合节点需同步验证整体响应和焊接区域的局部破坏。</a:t>
            </a:r>
          </a:p>
        </p:txBody>
      </p:sp>
    </p:spTree>
  </p:cSld>
  <p:clrMapOvr>
    <a:masterClrMapping/>
  </p:clrMapOvr>
  <p:transition 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58653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端板螺栓连接节点动态响应机理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1593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第5章 钢框架梁柱节点动态响应机理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53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372019" y="1290009"/>
            <a:ext cx="8738339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部损伤发展的影响规律，分析节点的动态响应机理；冲击初速度：80、120、160、200、240 m/s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20601" y="5327847"/>
            <a:ext cx="8666416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随冲击速度提高：柱顶速度峰值和残余速度增大，峰值弯矩和峰值转角先迅速提高后减缓；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09279" y="5542826"/>
            <a:ext cx="8450650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节点极限转角、塑性变形和裂纹扩展程度大幅增加；失效由端板弯曲向多排孔边撕裂演化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58140" y="6092190"/>
            <a:ext cx="943089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冲击速度改变响应强度与持续时间，应结合峰值、转角和破坏模式共同判断。</a:t>
            </a:r>
          </a:p>
        </p:txBody>
      </p:sp>
    </p:spTree>
  </p:cSld>
  <p:clrMapOvr>
    <a:masterClrMapping/>
  </p:clrMapOvr>
  <p:transition 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58653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端板螺栓连接节点动态响应机理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1593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第5章 钢框架梁柱节点动态响应机理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54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372019" y="1290009"/>
            <a:ext cx="7669779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部损伤发展的影响规律，分析节点的动态响应机理；端板厚度：5、6、8、10、16 mm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757145" y="5327466"/>
            <a:ext cx="7371815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随端板厚度增加：峰值弯矩提高，峰值转角、极限转角和端板张开量均降低；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22338" y="5542445"/>
            <a:ext cx="4566844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失效模式上，孔边开裂受到抑制，端板弯曲受限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58140" y="6092190"/>
            <a:ext cx="847857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端板厚度改变板–栓相对强度，承载提升可能伴随控制破坏机制转变。</a:t>
            </a:r>
          </a:p>
        </p:txBody>
      </p:sp>
    </p:spTree>
  </p:cSld>
  <p:clrMapOvr>
    <a:masterClrMapping/>
  </p:clrMapOvr>
  <p:transition 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58653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端板螺栓连接节点动态响应机理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1593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第5章 钢框架梁柱节点动态响应机理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55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372019" y="1290009"/>
            <a:ext cx="8460924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部损伤发展的影响规律，分析节点的动态响应机理；螺栓直径：M16、M20、M24、M27、M30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26607" y="5327371"/>
            <a:ext cx="6724514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随螺栓直径增大：峰值弯矩总体提高，转角和端板弯曲变形总体下降；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42982" y="5542445"/>
            <a:ext cx="4998378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螺栓拉断受到抑制，薄弱部位由螺栓转移至端板孔边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58140" y="6092190"/>
            <a:ext cx="749865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增大螺栓直径会重分配组件抗力，需与端板塑性发展相匹配。</a:t>
            </a:r>
          </a:p>
        </p:txBody>
      </p:sp>
    </p:spTree>
  </p:cSld>
  <p:clrMapOvr>
    <a:masterClrMapping/>
  </p:clrMapOvr>
  <p:transition 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58653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端板螺栓连接节点动态响应机理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1593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第5章 钢框架梁柱节点动态响应机理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56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372133" y="1290980"/>
            <a:ext cx="9192888" cy="2840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98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部损伤发展的影响规律，分析节点的动态响应机理；纵向λ=n/m：0.625、0.733、0.857、1.0、1.167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794197" y="5327371"/>
            <a:ext cx="7274720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随λ值增大：峰值弯矩总体提高但增速降低，转角和端板塑性变形整体下降；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06651" y="5542445"/>
            <a:ext cx="2193407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节点损伤破坏模式不变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58140" y="6092190"/>
            <a:ext cx="86027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竖向螺栓布置改变力臂与局部弯曲条件，进而影响节点整体动力响应。</a:t>
            </a:r>
          </a:p>
        </p:txBody>
      </p:sp>
    </p:spTree>
  </p:cSld>
  <p:clrMapOvr>
    <a:masterClrMapping/>
  </p:clrMapOvr>
  <p:transition 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58653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端板螺栓连接节点动态响应机理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1593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第5章 钢框架梁柱节点动态响应机理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57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040579" y="5327371"/>
            <a:ext cx="9097950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随边距增大：峰值弯矩先提高后降低，峰值转角基本稳定，极限转角和端板塑性变形先下降后增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95783" y="5542445"/>
            <a:ext cx="6077213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加；节点裂纹扩展由螺孔外缘向端板自由边扩展转向螺孔间贯通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358140" y="6092190"/>
            <a:ext cx="749865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横向螺栓间距通过端板局部弯曲和撬力作用影响抗冲击性能。</a:t>
            </a:r>
          </a:p>
        </p:txBody>
      </p:sp>
    </p:spTree>
  </p:cSld>
  <p:clrMapOvr>
    <a:masterClrMapping/>
  </p:clrMapOvr>
  <p:transition 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669340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顶底腹板角钢连接节点动态响应机理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1593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第5章 钢框架梁柱节点动态响应机理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58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372591" y="1290009"/>
            <a:ext cx="8738339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部损伤发展的影响规律，分析节点的动态响应机理；冲击初速度：80、120、160、200、240 m/s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30400" y="5327847"/>
            <a:ext cx="8882183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随冲击速度提高：柱顶速度峰值和残余速度增大，峰值弯矩提高但增速减缓，转角持续增大；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64388" y="5542826"/>
            <a:ext cx="5429912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失效由角钢局部弯曲向受拉翼缘角钢孔边净截面开裂发展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58140" y="6092190"/>
            <a:ext cx="80507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角钢节点的冲击速度效应需要结合连接变形与螺栓损伤共同分析。</a:t>
            </a:r>
          </a:p>
        </p:txBody>
      </p:sp>
    </p:spTree>
  </p:cSld>
  <p:clrMapOvr>
    <a:masterClrMapping/>
  </p:clrMapOvr>
  <p:transition 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669340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顶底腹板角钢连接节点动态响应机理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1593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第5章 钢框架梁柱节点动态响应机理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59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372019" y="1290009"/>
            <a:ext cx="7731426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部损伤发展的影响规律，分析节点的动态响应机理；角钢厚度：7、8、10、12、14 mm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667133" y="5327466"/>
            <a:ext cx="7587582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随角钢厚度增加：峰值弯矩提高，峰值转角先提高后降低，极限转角持续降低；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22338" y="5542445"/>
            <a:ext cx="4566844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孔边开裂逐步受到抑制，节点转为整体刚度控制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58140" y="6092190"/>
            <a:ext cx="639451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角钢厚度影响柔性变形与螺栓受力之间的分配关系。</a:t>
            </a:r>
          </a:p>
        </p:txBody>
      </p:sp>
    </p:spTree>
  </p:cSld>
  <p:clrMapOvr>
    <a:masterClrMapping/>
  </p:clrMapOvr>
  <p:transition dur="400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669340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顶底腹板角钢连接节点动态响应机理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1593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第5章 钢框架梁柱节点动态响应机理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60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372019" y="1290009"/>
            <a:ext cx="8460924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部损伤发展的影响规律，分析节点的动态响应机理；螺栓直径：M16、M20、M24、M27、M30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32993" y="5327371"/>
            <a:ext cx="4782611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随螺栓直径增大：峰值弯矩增加，转动能力降低；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115380" y="5542445"/>
            <a:ext cx="6508747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螺栓拉断被抑制，薄弱部位转移至角钢，最终由角钢净截面开裂控制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58140" y="6092190"/>
            <a:ext cx="694658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螺栓直径对角钢节点的影响取决于组件之间的强弱关系。</a:t>
            </a:r>
          </a:p>
        </p:txBody>
      </p:sp>
    </p:spTree>
  </p:cSld>
  <p:clrMapOvr>
    <a:masterClrMapping/>
  </p:clrMapOvr>
  <p:transition dur="400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669340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顶底腹板角钢连接节点动态响应机理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1593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第5章 钢框架梁柱节点动态响应机理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44561" y="6626542"/>
            <a:ext cx="6455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61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924118" y="5327371"/>
            <a:ext cx="5861446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随横向边距增大：峰值弯矩、峰值转角和极限转角变化不大；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66645" y="5542445"/>
            <a:ext cx="6627419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损伤路径转移：螺孔外缘裂纹向角钢自由边扩展贯通→螺孔间裂纹贯通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358140" y="6092190"/>
            <a:ext cx="80507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角钢端距改变局部变形与传力条件，需同时考察承载和转动能力。</a:t>
            </a:r>
          </a:p>
        </p:txBody>
      </p:sp>
    </p:spTree>
  </p:cSld>
  <p:clrMapOvr>
    <a:masterClrMapping/>
  </p:clrMapOvr>
  <p:transition dur="400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58653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栓焊混合连接节点动态响应机理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1593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第5章 钢框架梁柱节点动态响应机理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62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372591" y="1290009"/>
            <a:ext cx="9149324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及局部损伤发展的影响规律，分析节点的动态响应机理；冲击初速度：80、120、160、200、240 m/s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09374" y="5327847"/>
            <a:ext cx="8450650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随冲击速度提高：柱顶速度峰值和残余速度增大，峰值弯矩提高但增速减缓，转角持续增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28343" y="5542826"/>
            <a:ext cx="2624941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大；损伤失效程度逐渐增大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58140" y="6092190"/>
            <a:ext cx="83267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栓焊混合节点在不同速度下表现出整体动力响应与局部破坏的耦合。</a:t>
            </a:r>
          </a:p>
        </p:txBody>
      </p:sp>
    </p:spTree>
  </p:cSld>
  <p:clrMapOvr>
    <a:masterClrMapping/>
  </p:clrMapOvr>
  <p:transition dur="400"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58653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栓焊混合连接节点动态响应机理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31593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第5章 钢框架梁柱节点动态响应机理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63 / 80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6" y="742950"/>
            <a:ext cx="10571469" cy="51625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372591" y="1290009"/>
            <a:ext cx="7628680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律，分析节点的动态响应机理；过焊孔构造：标准、标准-无垫板、FEMA型、扩大型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55824" y="5073815"/>
            <a:ext cx="7026588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不设垫板时承载能力最差；FEMA过焊孔与标准过焊孔性能接近，扩大型过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60405" y="5288890"/>
            <a:ext cx="3272242" cy="2859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7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焊孔削弱了有效梁翼缘、性能略差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58140" y="6092190"/>
            <a:ext cx="943089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焊接孔构造改变局部应力集中与裂纹路径，是改善节点损伤分布的重要因素。</a:t>
            </a:r>
          </a:p>
        </p:txBody>
      </p:sp>
    </p:spTree>
  </p:cSld>
  <p:clrMapOvr>
    <a:masterClrMapping/>
  </p:clrMapOvr>
  <p:transition dur="400"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5568" cy="6858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394835" y="532448"/>
            <a:ext cx="537336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98745" y="598170"/>
            <a:ext cx="79705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绪论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94835" y="143732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98745" y="1503045"/>
            <a:ext cx="6520167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Q355钢应变依赖动力增大系数(SD-DIF)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94835" y="234219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98745" y="2407920"/>
            <a:ext cx="602330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Q355钢耦合动态断裂模型CD-LMVGM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94835" y="324707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98745" y="3312795"/>
            <a:ext cx="558165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钢框架梁柱节点动力冲击试验研究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94835" y="415194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98745" y="4217670"/>
            <a:ext cx="484555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钢框架梁柱节点动态响应机理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94835" y="505682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B6282D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98745" y="5122545"/>
            <a:ext cx="668578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B6282D"/>
                </a:solidFill>
                <a:latin typeface="Arial"/>
                <a:ea typeface="Microsoft YaHei"/>
                <a:cs typeface="Arial"/>
              </a:rPr>
              <a:t>端板螺栓连接节点抗冲击承载力计算方法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94835" y="596169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98745" y="6027420"/>
            <a:ext cx="190119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结论与展望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76219" y="6597968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595959"/>
                </a:solidFill>
                <a:latin typeface="Arial"/>
                <a:ea typeface="Microsoft YaHei"/>
                <a:cs typeface="Arial"/>
              </a:rPr>
              <a:t>64 / 80</a:t>
            </a:r>
          </a:p>
        </p:txBody>
      </p:sp>
    </p:spTree>
  </p:cSld>
  <p:clrMapOvr>
    <a:masterClrMapping/>
  </p:clrMapOvr>
  <p:transition dur="400"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462314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节点抗冲击承载力数据库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1452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第6章 端板螺栓连接节点抗冲击承载力计算方法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65 / 80</a:t>
            </a:r>
          </a:p>
        </p:txBody>
      </p:sp>
      <p:sp>
        <p:nvSpPr>
          <p:cNvPr id="9" name="Rectangle 9"/>
          <p:cNvSpPr/>
          <p:nvPr/>
        </p:nvSpPr>
        <p:spPr>
          <a:xfrm>
            <a:off x="190500" y="819150"/>
            <a:ext cx="5448300" cy="3333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83845" y="879158"/>
            <a:ext cx="23191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样本生成与分组划分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867400" y="819150"/>
            <a:ext cx="6124575" cy="3333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960745" y="879158"/>
            <a:ext cx="181313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输入特征相关性</a:t>
            </a:r>
          </a:p>
        </p:txBody>
      </p:sp>
      <p:sp>
        <p:nvSpPr>
          <p:cNvPr id="13" name="Rectangle 13"/>
          <p:cNvSpPr/>
          <p:nvPr/>
        </p:nvSpPr>
        <p:spPr>
          <a:xfrm>
            <a:off x="285750" y="1352550"/>
            <a:ext cx="1952625" cy="466725"/>
          </a:xfrm>
          <a:prstGeom prst="rect">
            <a:avLst/>
          </a:prstGeom>
          <a:solidFill>
            <a:srgbClr val="B6282D"/>
          </a:solidFill>
          <a:ln w="9525">
            <a:solidFill>
              <a:srgbClr val="D9D9D9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60045" y="145065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样本分组</a:t>
            </a:r>
          </a:p>
        </p:txBody>
      </p:sp>
      <p:sp>
        <p:nvSpPr>
          <p:cNvPr id="15" name="Rectangle 15"/>
          <p:cNvSpPr/>
          <p:nvPr/>
        </p:nvSpPr>
        <p:spPr>
          <a:xfrm>
            <a:off x="2238375" y="1352550"/>
            <a:ext cx="1095375" cy="466725"/>
          </a:xfrm>
          <a:prstGeom prst="rect">
            <a:avLst/>
          </a:prstGeom>
          <a:solidFill>
            <a:srgbClr val="B6282D"/>
          </a:solidFill>
          <a:ln w="9525">
            <a:solidFill>
              <a:srgbClr val="D9D9D9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2312670" y="1450658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构造数</a:t>
            </a:r>
          </a:p>
        </p:txBody>
      </p:sp>
      <p:sp>
        <p:nvSpPr>
          <p:cNvPr id="17" name="Rectangle 17"/>
          <p:cNvSpPr/>
          <p:nvPr/>
        </p:nvSpPr>
        <p:spPr>
          <a:xfrm>
            <a:off x="3333750" y="1352550"/>
            <a:ext cx="1095375" cy="466725"/>
          </a:xfrm>
          <a:prstGeom prst="rect">
            <a:avLst/>
          </a:prstGeom>
          <a:solidFill>
            <a:srgbClr val="B6282D"/>
          </a:solidFill>
          <a:ln w="9525">
            <a:solidFill>
              <a:srgbClr val="D9D9D9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3408045" y="1450658"/>
            <a:ext cx="5479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静力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429125" y="1352550"/>
            <a:ext cx="1095375" cy="466725"/>
          </a:xfrm>
          <a:prstGeom prst="rect">
            <a:avLst/>
          </a:prstGeom>
          <a:solidFill>
            <a:srgbClr val="B6282D"/>
          </a:solidFill>
          <a:ln w="9525">
            <a:solidFill>
              <a:srgbClr val="D9D9D9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4503420" y="1450658"/>
            <a:ext cx="5479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动力</a:t>
            </a:r>
          </a:p>
        </p:txBody>
      </p:sp>
      <p:sp>
        <p:nvSpPr>
          <p:cNvPr id="21" name="Rectangle 21"/>
          <p:cNvSpPr/>
          <p:nvPr/>
        </p:nvSpPr>
        <p:spPr>
          <a:xfrm>
            <a:off x="285750" y="1819275"/>
            <a:ext cx="1952625" cy="466725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360045" y="1917382"/>
            <a:ext cx="10058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全部样本</a:t>
            </a:r>
          </a:p>
        </p:txBody>
      </p:sp>
      <p:sp>
        <p:nvSpPr>
          <p:cNvPr id="23" name="Rectangle 23"/>
          <p:cNvSpPr/>
          <p:nvPr/>
        </p:nvSpPr>
        <p:spPr>
          <a:xfrm>
            <a:off x="2238375" y="1819275"/>
            <a:ext cx="1095375" cy="466725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2312670" y="1917382"/>
            <a:ext cx="30699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77</a:t>
            </a:r>
          </a:p>
        </p:txBody>
      </p:sp>
      <p:sp>
        <p:nvSpPr>
          <p:cNvPr id="25" name="Rectangle 25"/>
          <p:cNvSpPr/>
          <p:nvPr/>
        </p:nvSpPr>
        <p:spPr>
          <a:xfrm>
            <a:off x="3333750" y="1819275"/>
            <a:ext cx="1095375" cy="466725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3408045" y="1917382"/>
            <a:ext cx="30699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77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429125" y="1819275"/>
            <a:ext cx="1095375" cy="466725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4503420" y="1917382"/>
            <a:ext cx="43953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385</a:t>
            </a:r>
          </a:p>
        </p:txBody>
      </p:sp>
      <p:sp>
        <p:nvSpPr>
          <p:cNvPr id="29" name="Rectangle 29"/>
          <p:cNvSpPr/>
          <p:nvPr/>
        </p:nvSpPr>
        <p:spPr>
          <a:xfrm>
            <a:off x="285750" y="2286000"/>
            <a:ext cx="1952625" cy="4667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360045" y="2384108"/>
            <a:ext cx="10058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训练构造</a:t>
            </a:r>
          </a:p>
        </p:txBody>
      </p:sp>
      <p:sp>
        <p:nvSpPr>
          <p:cNvPr id="31" name="Rectangle 31"/>
          <p:cNvSpPr/>
          <p:nvPr/>
        </p:nvSpPr>
        <p:spPr>
          <a:xfrm>
            <a:off x="2238375" y="2286000"/>
            <a:ext cx="1095375" cy="4667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2312670" y="2384108"/>
            <a:ext cx="30699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sp>
        <p:nvSpPr>
          <p:cNvPr id="33" name="Rectangle 33"/>
          <p:cNvSpPr/>
          <p:nvPr/>
        </p:nvSpPr>
        <p:spPr>
          <a:xfrm>
            <a:off x="3333750" y="2286000"/>
            <a:ext cx="1095375" cy="4667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3408045" y="2384108"/>
            <a:ext cx="30699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sp>
        <p:nvSpPr>
          <p:cNvPr id="35" name="Rectangle 35"/>
          <p:cNvSpPr/>
          <p:nvPr/>
        </p:nvSpPr>
        <p:spPr>
          <a:xfrm>
            <a:off x="4429125" y="2286000"/>
            <a:ext cx="1095375" cy="4667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4503420" y="2384108"/>
            <a:ext cx="37928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310</a:t>
            </a:r>
          </a:p>
        </p:txBody>
      </p:sp>
      <p:sp>
        <p:nvSpPr>
          <p:cNvPr id="37" name="Rectangle 37"/>
          <p:cNvSpPr/>
          <p:nvPr/>
        </p:nvSpPr>
        <p:spPr>
          <a:xfrm>
            <a:off x="285750" y="2752725"/>
            <a:ext cx="1952625" cy="466725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360045" y="2850832"/>
            <a:ext cx="10058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独立验证</a:t>
            </a:r>
          </a:p>
        </p:txBody>
      </p:sp>
      <p:sp>
        <p:nvSpPr>
          <p:cNvPr id="39" name="Rectangle 39"/>
          <p:cNvSpPr/>
          <p:nvPr/>
        </p:nvSpPr>
        <p:spPr>
          <a:xfrm>
            <a:off x="2238375" y="2752725"/>
            <a:ext cx="1095375" cy="466725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2312670" y="2850832"/>
            <a:ext cx="24674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41" name="Rectangle 41"/>
          <p:cNvSpPr/>
          <p:nvPr/>
        </p:nvSpPr>
        <p:spPr>
          <a:xfrm>
            <a:off x="3333750" y="2752725"/>
            <a:ext cx="1095375" cy="466725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3408045" y="2850832"/>
            <a:ext cx="24674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43" name="Rectangle 43"/>
          <p:cNvSpPr/>
          <p:nvPr/>
        </p:nvSpPr>
        <p:spPr>
          <a:xfrm>
            <a:off x="4429125" y="2752725"/>
            <a:ext cx="1095375" cy="466725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4503420" y="2850832"/>
            <a:ext cx="30699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75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01942" y="3528536"/>
            <a:ext cx="182380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•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11492" y="3528536"/>
            <a:ext cx="4288941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每种构造包含1个静力及5个动力工况。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01942" y="4008120"/>
            <a:ext cx="182380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•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11492" y="4008120"/>
            <a:ext cx="5586412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按构造分组，避免同一节点的不同速率工况跨集合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11492" y="4325779"/>
            <a:ext cx="799624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泄漏。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01942" y="4805362"/>
            <a:ext cx="182380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•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11492" y="4805362"/>
            <a:ext cx="5586412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相关性分析用于检查变量联系，不等同于因果解释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11492" y="5123021"/>
            <a:ext cx="295751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。</a:t>
            </a:r>
          </a:p>
        </p:txBody>
      </p:sp>
      <p:pic>
        <p:nvPicPr>
          <p:cNvPr id="53" name="Image 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130" y="1323975"/>
            <a:ext cx="4320540" cy="4457700"/>
          </a:xfrm>
          <a:prstGeom prst="rect">
            <a:avLst/>
          </a:prstGeom>
        </p:spPr>
      </p:pic>
      <p:sp>
        <p:nvSpPr>
          <p:cNvPr id="54" name="Rectangle 54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358140" y="6092190"/>
            <a:ext cx="9154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按节点构造分组划分训练集与独立验证集，避免同构造样本造成信息泄漏。</a:t>
            </a:r>
          </a:p>
        </p:txBody>
      </p:sp>
    </p:spTree>
  </p:cSld>
  <p:clrMapOvr>
    <a:masterClrMapping/>
  </p:clrMapOvr>
  <p:transition dur="400"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33809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机器学习预测模型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1452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第6章 端板螺栓连接节点抗冲击承载力计算方法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66 / 80</a:t>
            </a:r>
          </a:p>
        </p:txBody>
      </p:sp>
      <p:sp>
        <p:nvSpPr>
          <p:cNvPr id="9" name="Rectangle 9"/>
          <p:cNvSpPr/>
          <p:nvPr/>
        </p:nvSpPr>
        <p:spPr>
          <a:xfrm>
            <a:off x="190500" y="819150"/>
            <a:ext cx="4953000" cy="3333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83845" y="879158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失效模式分类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362575" y="819150"/>
            <a:ext cx="6629400" cy="3333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455920" y="879158"/>
            <a:ext cx="23191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分类结果与混淆分析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0990" y="1367790"/>
            <a:ext cx="1903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•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10540" y="1367790"/>
            <a:ext cx="50406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以构造、材料与加载速率为输入，识别动力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0540" y="1699260"/>
            <a:ext cx="188595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控制失效模式。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00990" y="2268855"/>
            <a:ext cx="1903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•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0540" y="2268855"/>
            <a:ext cx="50406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比较分类模型，结合混淆矩阵分析各类样本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0540" y="2600325"/>
            <a:ext cx="162306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的识别情况。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00990" y="3169920"/>
            <a:ext cx="1903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•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10540" y="3169920"/>
            <a:ext cx="50406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分类结果用于调用相应的承载力动力修正公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0540" y="3501390"/>
            <a:ext cx="5715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式。</a:t>
            </a:r>
          </a:p>
        </p:txBody>
      </p:sp>
      <p:sp>
        <p:nvSpPr>
          <p:cNvPr id="22" name="Rectangle 22"/>
          <p:cNvSpPr/>
          <p:nvPr/>
        </p:nvSpPr>
        <p:spPr>
          <a:xfrm>
            <a:off x="381000" y="4648200"/>
            <a:ext cx="4381500" cy="88582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58165" y="4796790"/>
            <a:ext cx="43794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模式标签 → 分模式DIF → 动力承载力</a:t>
            </a:r>
          </a:p>
        </p:txBody>
      </p:sp>
      <p:pic>
        <p:nvPicPr>
          <p:cNvPr id="24" name="Imag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6895" y="1304925"/>
            <a:ext cx="6053138" cy="4438650"/>
          </a:xfrm>
          <a:prstGeom prst="rect">
            <a:avLst/>
          </a:prstGeom>
        </p:spPr>
      </p:pic>
      <p:sp>
        <p:nvSpPr>
          <p:cNvPr id="25" name="Rectangle 25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358140" y="6092190"/>
            <a:ext cx="970692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失效模式分类为后续分模式承载力计算提供依据，混淆矩阵用于识别易混类别。</a:t>
            </a:r>
          </a:p>
        </p:txBody>
      </p:sp>
    </p:spTree>
  </p:cSld>
  <p:clrMapOvr>
    <a:masterClrMapping/>
  </p:clrMapOvr>
  <p:transition dur="400"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33809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机器学习预测模型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1452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第6章 端板螺栓连接节点抗冲击承载力计算方法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67 / 80</a:t>
            </a:r>
          </a:p>
        </p:txBody>
      </p:sp>
      <p:sp>
        <p:nvSpPr>
          <p:cNvPr id="9" name="Rectangle 9"/>
          <p:cNvSpPr/>
          <p:nvPr/>
        </p:nvSpPr>
        <p:spPr>
          <a:xfrm>
            <a:off x="190500" y="819150"/>
            <a:ext cx="6553200" cy="3333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83845" y="879158"/>
            <a:ext cx="159805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DIFM回归预测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953250" y="819150"/>
            <a:ext cx="5038725" cy="3333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046595" y="879158"/>
            <a:ext cx="25722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从预测性能到力学解释</a:t>
            </a:r>
          </a:p>
        </p:txBody>
      </p:sp>
      <p:pic>
        <p:nvPicPr>
          <p:cNvPr id="13" name="Imag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460" y="1323975"/>
            <a:ext cx="4812030" cy="4429125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7172325" y="1581150"/>
            <a:ext cx="13413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0.933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91375" y="2057400"/>
            <a:ext cx="190023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95959"/>
                </a:solidFill>
                <a:latin typeface="Arial"/>
                <a:ea typeface="Microsoft YaHei"/>
                <a:cs typeface="Arial"/>
              </a:rPr>
              <a:t>CatBoost测试集R²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30415" y="2910840"/>
            <a:ext cx="1903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•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339965" y="2910840"/>
            <a:ext cx="50406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输入特征包含几何构造、材料强度与加载速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339965" y="3242310"/>
            <a:ext cx="5715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率。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130415" y="3802380"/>
            <a:ext cx="1903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•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339965" y="3802380"/>
            <a:ext cx="477774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非线性回归刻画多变量之间的耦合关系。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130415" y="4362450"/>
            <a:ext cx="1903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•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339965" y="4362450"/>
            <a:ext cx="483031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以SHAP解释作为简化公式选取主导变量的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339965" y="4693920"/>
            <a:ext cx="8343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依据。</a:t>
            </a:r>
          </a:p>
        </p:txBody>
      </p:sp>
      <p:sp>
        <p:nvSpPr>
          <p:cNvPr id="24" name="Rectangle 24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358140" y="6092190"/>
            <a:ext cx="961031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CatBoost能够学习构造与加载速率的非线性影响，测试集DIF预测R²为0.933。</a:t>
            </a:r>
          </a:p>
        </p:txBody>
      </p:sp>
    </p:spTree>
  </p:cSld>
  <p:clrMapOvr>
    <a:masterClrMapping/>
  </p:clrMapOvr>
  <p:transition dur="400"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346380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输入特征SHAP分析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1452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第6章 端板螺栓连接节点抗冲击承载力计算方法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68 / 80</a:t>
            </a:r>
          </a:p>
        </p:txBody>
      </p:sp>
      <p:sp>
        <p:nvSpPr>
          <p:cNvPr id="9" name="Rectangle 9"/>
          <p:cNvSpPr/>
          <p:nvPr/>
        </p:nvSpPr>
        <p:spPr>
          <a:xfrm>
            <a:off x="190500" y="819150"/>
            <a:ext cx="7705725" cy="3333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83845" y="879158"/>
            <a:ext cx="161070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SHAP特征贡献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105775" y="819150"/>
            <a:ext cx="3876675" cy="3333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199120" y="879158"/>
            <a:ext cx="28252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面向简化模型的变量提取</a:t>
            </a:r>
          </a:p>
        </p:txBody>
      </p:sp>
      <p:pic>
        <p:nvPicPr>
          <p:cNvPr id="13" name="Imag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448" y="1323975"/>
            <a:ext cx="6955155" cy="43053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8264842" y="1366361"/>
            <a:ext cx="182380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•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74392" y="1366361"/>
            <a:ext cx="3570922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加载速率参数反映动力作用强度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74392" y="1684020"/>
            <a:ext cx="295751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64842" y="2154079"/>
            <a:ext cx="182380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•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74392" y="2154079"/>
            <a:ext cx="3709487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板–栓相对强度反映组件竞争关系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74392" y="2471738"/>
            <a:ext cx="295751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64842" y="2941796"/>
            <a:ext cx="182380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•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74392" y="2941796"/>
            <a:ext cx="3570922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两类变量共同解释强化幅度与模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74392" y="3259455"/>
            <a:ext cx="1051560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式迁移。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264842" y="3729514"/>
            <a:ext cx="182380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•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74392" y="3729514"/>
            <a:ext cx="3570922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特征贡献用于解释模型，不能直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74392" y="4047172"/>
            <a:ext cx="2563178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接替代组件力学推导。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58140" y="6092190"/>
            <a:ext cx="936188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SHAP揭示加载速率与板–栓相对强度的重要作用，为简化计算模型选择变量。</a:t>
            </a:r>
          </a:p>
        </p:txBody>
      </p:sp>
    </p:spTree>
  </p:cSld>
  <p:clrMapOvr>
    <a:masterClrMapping/>
  </p:clrMapOvr>
  <p:transition dur="400"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567898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板–栓相对强度与动力失效模式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1452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第6章 端板螺栓连接节点抗冲击承载力计算方法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69 / 80</a:t>
            </a:r>
          </a:p>
        </p:txBody>
      </p:sp>
      <p:sp>
        <p:nvSpPr>
          <p:cNvPr id="9" name="Rectangle 9"/>
          <p:cNvSpPr/>
          <p:nvPr/>
        </p:nvSpPr>
        <p:spPr>
          <a:xfrm>
            <a:off x="190500" y="819150"/>
            <a:ext cx="5924550" cy="3333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83845" y="879158"/>
            <a:ext cx="307828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端板与螺栓：组件抗力竞争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334125" y="819150"/>
            <a:ext cx="5657850" cy="3333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6427470" y="879158"/>
            <a:ext cx="307828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从组件强弱到控制失效模式</a:t>
            </a:r>
          </a:p>
        </p:txBody>
      </p:sp>
      <p:pic>
        <p:nvPicPr>
          <p:cNvPr id="13" name="Imag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542098"/>
            <a:ext cx="5724525" cy="2478405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354330" y="4488180"/>
            <a:ext cx="395002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β：端板–螺栓相对强度参数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58140" y="4968240"/>
            <a:ext cx="63550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加载速率改变两类组件的等效抗力；相对强弱随之调整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58140" y="5299710"/>
            <a:ext cx="37261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，控制极限状态可能发生迁移。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477000" y="1428750"/>
            <a:ext cx="1762125" cy="590550"/>
          </a:xfrm>
          <a:prstGeom prst="rect">
            <a:avLst/>
          </a:prstGeom>
          <a:solidFill>
            <a:srgbClr val="B6282D"/>
          </a:solidFill>
          <a:ln w="9525">
            <a:solidFill>
              <a:srgbClr val="D9D9D9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551295" y="1526858"/>
            <a:ext cx="5479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模式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239125" y="1428750"/>
            <a:ext cx="3524250" cy="590550"/>
          </a:xfrm>
          <a:prstGeom prst="rect">
            <a:avLst/>
          </a:prstGeom>
          <a:solidFill>
            <a:srgbClr val="B6282D"/>
          </a:solidFill>
          <a:ln w="9525">
            <a:solidFill>
              <a:srgbClr val="D9D9D9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313420" y="152685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控制特征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477000" y="2019300"/>
            <a:ext cx="1762125" cy="59055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551295" y="2117408"/>
            <a:ext cx="82510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FM1-FF</a:t>
            </a:r>
          </a:p>
        </p:txBody>
      </p:sp>
      <p:sp>
        <p:nvSpPr>
          <p:cNvPr id="23" name="Rectangle 23"/>
          <p:cNvSpPr/>
          <p:nvPr/>
        </p:nvSpPr>
        <p:spPr>
          <a:xfrm>
            <a:off x="8239125" y="2019300"/>
            <a:ext cx="3524250" cy="59055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8313420" y="2117408"/>
            <a:ext cx="196977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端板塑性变形主导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477000" y="2609850"/>
            <a:ext cx="176212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6551295" y="2707958"/>
            <a:ext cx="82510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FM1-BR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239125" y="2609850"/>
            <a:ext cx="3524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8313420" y="2707958"/>
            <a:ext cx="221075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端板与螺栓共同参与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477000" y="3200400"/>
            <a:ext cx="1762125" cy="59055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6551295" y="3298508"/>
            <a:ext cx="48772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FM2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239125" y="3200400"/>
            <a:ext cx="3524250" cy="59055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313420" y="3298508"/>
            <a:ext cx="196977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螺栓断裂参与增强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77000" y="3790950"/>
            <a:ext cx="176212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6551295" y="3889058"/>
            <a:ext cx="48772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FM3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239125" y="3790950"/>
            <a:ext cx="3524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8313420" y="3889058"/>
            <a:ext cx="196977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本章动力样本不足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486525" y="5010150"/>
            <a:ext cx="36637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95959"/>
                </a:solidFill>
                <a:latin typeface="Arial"/>
                <a:ea typeface="Microsoft YaHei"/>
                <a:cs typeface="Arial"/>
              </a:rPr>
              <a:t>模式名称与判别以论文第6章定义为准</a:t>
            </a:r>
          </a:p>
        </p:txBody>
      </p:sp>
      <p:sp>
        <p:nvSpPr>
          <p:cNvPr id="38" name="Rectangle 38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58140" y="6092190"/>
            <a:ext cx="749865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组件动力强化程度不同，会改变端板与螺栓的相对强弱关系。</a:t>
            </a:r>
          </a:p>
        </p:txBody>
      </p:sp>
    </p:spTree>
  </p:cSld>
  <p:clrMapOvr>
    <a:masterClrMapping/>
  </p:clrMapOvr>
  <p:transition dur="400"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420909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动力失效模式边界修正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1452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第6章 端板螺栓连接节点抗冲击承载力计算方法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70 / 80</a:t>
            </a:r>
          </a:p>
        </p:txBody>
      </p:sp>
      <p:sp>
        <p:nvSpPr>
          <p:cNvPr id="9" name="Rectangle 9"/>
          <p:cNvSpPr/>
          <p:nvPr/>
        </p:nvSpPr>
        <p:spPr>
          <a:xfrm>
            <a:off x="190500" y="819150"/>
            <a:ext cx="6810375" cy="3333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83845" y="879158"/>
            <a:ext cx="28252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静力边界与动力修正边界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219950" y="819150"/>
            <a:ext cx="4762500" cy="3333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313295" y="879158"/>
            <a:ext cx="23191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动力修正的物理含义</a:t>
            </a:r>
          </a:p>
        </p:txBody>
      </p:sp>
      <p:pic>
        <p:nvPicPr>
          <p:cNvPr id="13" name="Imag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778" y="1352550"/>
            <a:ext cx="5341620" cy="428625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7397115" y="1405890"/>
            <a:ext cx="1903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•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06665" y="1405890"/>
            <a:ext cx="477774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板与栓的动力强化程度不同，模式边界随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606665" y="1737360"/>
            <a:ext cx="188595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加载速率移动。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397115" y="2249805"/>
            <a:ext cx="1903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•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606665" y="2249805"/>
            <a:ext cx="421252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论文以对数速率修正静力4FM边界。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397115" y="2762250"/>
            <a:ext cx="1903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•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06665" y="2762250"/>
            <a:ext cx="458057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两条边界分别标定，修正系数约为0.118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06665" y="3093720"/>
            <a:ext cx="122872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与0.198。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397115" y="3606165"/>
            <a:ext cx="1903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•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606665" y="3606165"/>
            <a:ext cx="477774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边界附近仍存在交叉样本，判据描述主体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606665" y="3937635"/>
            <a:ext cx="8343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趋势。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35280" y="5702618"/>
            <a:ext cx="33565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95959"/>
                </a:solidFill>
                <a:latin typeface="Arial"/>
                <a:ea typeface="Microsoft YaHei"/>
                <a:cs typeface="Arial"/>
              </a:rPr>
              <a:t>来源：论文式(6.28)–(6.31)、图6.15</a:t>
            </a:r>
          </a:p>
        </p:txBody>
      </p:sp>
      <p:sp>
        <p:nvSpPr>
          <p:cNvPr id="26" name="Rectangle 26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58140" y="6092190"/>
            <a:ext cx="80507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动力边界描述模式迁移的主要趋势，过渡区仍存在少量交叉样本。</a:t>
            </a:r>
          </a:p>
        </p:txBody>
      </p:sp>
    </p:spTree>
  </p:cSld>
  <p:clrMapOvr>
    <a:masterClrMapping/>
  </p:clrMapOvr>
  <p:transition dur="400"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545125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分模式动力增大系数简化公式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1452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第6章 端板螺栓连接节点抗冲击承载力计算方法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44561" y="6626542"/>
            <a:ext cx="6455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71 / 80</a:t>
            </a:r>
          </a:p>
        </p:txBody>
      </p:sp>
      <p:sp>
        <p:nvSpPr>
          <p:cNvPr id="9" name="Rectangle 9"/>
          <p:cNvSpPr/>
          <p:nvPr/>
        </p:nvSpPr>
        <p:spPr>
          <a:xfrm>
            <a:off x="266700" y="857250"/>
            <a:ext cx="2324100" cy="762000"/>
          </a:xfrm>
          <a:prstGeom prst="rect">
            <a:avLst/>
          </a:prstGeom>
          <a:solidFill>
            <a:srgbClr val="B6282D"/>
          </a:solidFill>
          <a:ln w="9525">
            <a:solidFill>
              <a:srgbClr val="D9D9D9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40995" y="955358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动力失效模式</a:t>
            </a:r>
          </a:p>
        </p:txBody>
      </p:sp>
      <p:sp>
        <p:nvSpPr>
          <p:cNvPr id="11" name="Rectangle 11"/>
          <p:cNvSpPr/>
          <p:nvPr/>
        </p:nvSpPr>
        <p:spPr>
          <a:xfrm>
            <a:off x="2590800" y="857250"/>
            <a:ext cx="9315450" cy="762000"/>
          </a:xfrm>
          <a:prstGeom prst="rect">
            <a:avLst/>
          </a:prstGeom>
          <a:solidFill>
            <a:srgbClr val="B6282D"/>
          </a:solidFill>
          <a:ln w="9525">
            <a:solidFill>
              <a:srgbClr val="D9D9D9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2665095" y="955358"/>
            <a:ext cx="185108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DIFM简化表达式</a:t>
            </a:r>
          </a:p>
        </p:txBody>
      </p:sp>
      <p:sp>
        <p:nvSpPr>
          <p:cNvPr id="13" name="Rectangle 13"/>
          <p:cNvSpPr/>
          <p:nvPr/>
        </p:nvSpPr>
        <p:spPr>
          <a:xfrm>
            <a:off x="266700" y="1619250"/>
            <a:ext cx="2324100" cy="762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40995" y="1717358"/>
            <a:ext cx="82510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FM1-FF</a:t>
            </a:r>
          </a:p>
        </p:txBody>
      </p:sp>
      <p:sp>
        <p:nvSpPr>
          <p:cNvPr id="15" name="Rectangle 15"/>
          <p:cNvSpPr/>
          <p:nvPr/>
        </p:nvSpPr>
        <p:spPr>
          <a:xfrm>
            <a:off x="2590800" y="1619250"/>
            <a:ext cx="9315450" cy="762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2665095" y="1717358"/>
            <a:ext cx="363254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1 + 0.032 ln θ̇* + 0.017 β ln θ̇*</a:t>
            </a:r>
          </a:p>
        </p:txBody>
      </p:sp>
      <p:sp>
        <p:nvSpPr>
          <p:cNvPr id="17" name="Rectangle 17"/>
          <p:cNvSpPr/>
          <p:nvPr/>
        </p:nvSpPr>
        <p:spPr>
          <a:xfrm>
            <a:off x="266700" y="2381250"/>
            <a:ext cx="23241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340995" y="2479358"/>
            <a:ext cx="82510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FM1-BR</a:t>
            </a:r>
          </a:p>
        </p:txBody>
      </p:sp>
      <p:sp>
        <p:nvSpPr>
          <p:cNvPr id="19" name="Rectangle 19"/>
          <p:cNvSpPr/>
          <p:nvPr/>
        </p:nvSpPr>
        <p:spPr>
          <a:xfrm>
            <a:off x="2590800" y="2381250"/>
            <a:ext cx="931545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2665095" y="2479358"/>
            <a:ext cx="36927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1 − 0.032 ln θ̇* + 0.209 β ln θ̇*</a:t>
            </a:r>
          </a:p>
        </p:txBody>
      </p:sp>
      <p:sp>
        <p:nvSpPr>
          <p:cNvPr id="21" name="Rectangle 21"/>
          <p:cNvSpPr/>
          <p:nvPr/>
        </p:nvSpPr>
        <p:spPr>
          <a:xfrm>
            <a:off x="266700" y="3143250"/>
            <a:ext cx="2324100" cy="762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340995" y="3241358"/>
            <a:ext cx="48772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FM2</a:t>
            </a:r>
          </a:p>
        </p:txBody>
      </p:sp>
      <p:sp>
        <p:nvSpPr>
          <p:cNvPr id="23" name="Rectangle 23"/>
          <p:cNvSpPr/>
          <p:nvPr/>
        </p:nvSpPr>
        <p:spPr>
          <a:xfrm>
            <a:off x="2590800" y="3143250"/>
            <a:ext cx="9315450" cy="762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2665095" y="3241358"/>
            <a:ext cx="363254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1 − 0.039 ln θ̇* − 0.281 β ln θ̇*</a:t>
            </a:r>
          </a:p>
        </p:txBody>
      </p:sp>
      <p:sp>
        <p:nvSpPr>
          <p:cNvPr id="25" name="Rectangle 25"/>
          <p:cNvSpPr/>
          <p:nvPr/>
        </p:nvSpPr>
        <p:spPr>
          <a:xfrm>
            <a:off x="266700" y="4124325"/>
            <a:ext cx="5572125" cy="166687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6057900" y="4124325"/>
            <a:ext cx="5848350" cy="166687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22910" y="4247198"/>
            <a:ext cx="124568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变量定义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24815" y="4663440"/>
            <a:ext cx="602646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θ̇*：归一化转动速率；β：板–栓相对强度参数。具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24815" y="4994910"/>
            <a:ext cx="451485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体归一化与静力抗力取值按论文定义。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223635" y="4247198"/>
            <a:ext cx="124568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使用方式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225540" y="4663440"/>
            <a:ext cx="60921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先识别动力失效模式，再调用相应表达式；准静力极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225540" y="4994910"/>
            <a:ext cx="226714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限下DIFM回归为1。</a:t>
            </a:r>
          </a:p>
        </p:txBody>
      </p:sp>
      <p:sp>
        <p:nvSpPr>
          <p:cNvPr id="33" name="Rectangle 33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358140" y="6092190"/>
            <a:ext cx="776088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按控制失效模式选择DIF公式，保留速率项及速率–构造耦合项。</a:t>
            </a:r>
          </a:p>
        </p:txBody>
      </p:sp>
    </p:spTree>
  </p:cSld>
  <p:clrMapOvr>
    <a:masterClrMapping/>
  </p:clrMapOvr>
  <p:transition dur="400"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503720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抗冲击承载力实用计算流程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1452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第6章 端板螺栓连接节点抗冲击承载力计算方法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72 / 80</a:t>
            </a:r>
          </a:p>
        </p:txBody>
      </p:sp>
      <p:sp>
        <p:nvSpPr>
          <p:cNvPr id="9" name="Rectangle 9"/>
          <p:cNvSpPr/>
          <p:nvPr/>
        </p:nvSpPr>
        <p:spPr>
          <a:xfrm>
            <a:off x="285750" y="904875"/>
            <a:ext cx="3733800" cy="195262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285750" y="904875"/>
            <a:ext cx="3733800" cy="409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13385" y="980122"/>
            <a:ext cx="1724139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 构造与材料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2912" y="1626394"/>
            <a:ext cx="278606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端板、螺栓、几何参数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24312" y="1816894"/>
            <a:ext cx="20577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B6282D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238625" y="904875"/>
            <a:ext cx="3733800" cy="195262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4238625" y="904875"/>
            <a:ext cx="3733800" cy="409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366260" y="980122"/>
            <a:ext cx="149986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 静力基准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95788" y="1626394"/>
            <a:ext cx="332005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计算Mu,s与板–栓相对强度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77188" y="1816894"/>
            <a:ext cx="20577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B6282D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191500" y="904875"/>
            <a:ext cx="3733800" cy="195262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8191500" y="904875"/>
            <a:ext cx="3733800" cy="409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319135" y="980122"/>
            <a:ext cx="149986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 加载速率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48662" y="1626394"/>
            <a:ext cx="2512219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确定归一化转动速率</a:t>
            </a:r>
          </a:p>
        </p:txBody>
      </p:sp>
      <p:sp>
        <p:nvSpPr>
          <p:cNvPr id="23" name="Rectangle 23"/>
          <p:cNvSpPr/>
          <p:nvPr/>
        </p:nvSpPr>
        <p:spPr>
          <a:xfrm>
            <a:off x="285750" y="3238500"/>
            <a:ext cx="3733800" cy="195262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285750" y="3238500"/>
            <a:ext cx="3733800" cy="409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13385" y="3313748"/>
            <a:ext cx="149986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 模式识别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42912" y="3960019"/>
            <a:ext cx="278606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采用动力修正模式判据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024312" y="4150519"/>
            <a:ext cx="20577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B6282D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238625" y="3238500"/>
            <a:ext cx="3733800" cy="195262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4238625" y="3238500"/>
            <a:ext cx="3733800" cy="409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366260" y="3313748"/>
            <a:ext cx="209793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 动力增大系数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395788" y="3960019"/>
            <a:ext cx="278606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选用相应失效模式公式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977188" y="4150519"/>
            <a:ext cx="20577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B6282D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33" name="Rectangle 33"/>
          <p:cNvSpPr/>
          <p:nvPr/>
        </p:nvSpPr>
        <p:spPr>
          <a:xfrm>
            <a:off x="8191500" y="3238500"/>
            <a:ext cx="3733800" cy="195262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8191500" y="3238500"/>
            <a:ext cx="3733800" cy="409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319135" y="3313748"/>
            <a:ext cx="1798899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 动力承载力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48662" y="3960019"/>
            <a:ext cx="258068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Mu,d = DIFM × Mu,s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59092" y="5624036"/>
            <a:ext cx="8357711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595959"/>
                </a:solidFill>
                <a:latin typeface="Arial"/>
                <a:ea typeface="Microsoft YaHei"/>
                <a:cs typeface="Arial"/>
              </a:rPr>
              <a:t>在适用参数范围内，逐项保持组件抗力、模式编号与归一化速率定义一致。</a:t>
            </a:r>
          </a:p>
        </p:txBody>
      </p:sp>
      <p:sp>
        <p:nvSpPr>
          <p:cNvPr id="38" name="Rectangle 38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58140" y="6092190"/>
            <a:ext cx="9154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以静力承载力为基准，通过模式识别与分模式动力修正得到动力峰值弯矩。</a:t>
            </a:r>
          </a:p>
        </p:txBody>
      </p:sp>
    </p:spTree>
  </p:cSld>
  <p:clrMapOvr>
    <a:masterClrMapping/>
  </p:clrMapOvr>
  <p:transition dur="400"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33809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独立节点样本验证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1452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第6章 端板螺栓连接节点抗冲击承载力计算方法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73 / 80</a:t>
            </a:r>
          </a:p>
        </p:txBody>
      </p:sp>
      <p:sp>
        <p:nvSpPr>
          <p:cNvPr id="9" name="Rectangle 9"/>
          <p:cNvSpPr/>
          <p:nvPr/>
        </p:nvSpPr>
        <p:spPr>
          <a:xfrm>
            <a:off x="190500" y="819150"/>
            <a:ext cx="5553075" cy="3333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83845" y="879158"/>
            <a:ext cx="206616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动力失效模式识别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962650" y="819150"/>
            <a:ext cx="6029325" cy="3333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6055995" y="879158"/>
            <a:ext cx="28252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完整方法：动力峰值弯矩</a:t>
            </a:r>
          </a:p>
        </p:txBody>
      </p:sp>
      <p:pic>
        <p:nvPicPr>
          <p:cNvPr id="13" name="Imag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762" y="1304925"/>
            <a:ext cx="4313872" cy="3381375"/>
          </a:xfrm>
          <a:prstGeom prst="rect">
            <a:avLst/>
          </a:prstGeom>
        </p:spPr>
      </p:pic>
      <p:pic>
        <p:nvPicPr>
          <p:cNvPr id="14" name="Imag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0395" y="1304925"/>
            <a:ext cx="3986212" cy="3381375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81025" y="4895850"/>
            <a:ext cx="13413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93.3%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00075" y="5372100"/>
            <a:ext cx="24479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95959"/>
                </a:solidFill>
                <a:latin typeface="Arial"/>
                <a:ea typeface="Microsoft YaHei"/>
                <a:cs typeface="Arial"/>
              </a:rPr>
              <a:t>独立样本模式识别准确率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29375" y="4895850"/>
            <a:ext cx="226147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R² = 0.910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48425" y="5372100"/>
            <a:ext cx="18783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95959"/>
                </a:solidFill>
                <a:latin typeface="Arial"/>
                <a:ea typeface="Microsoft YaHei"/>
                <a:cs typeface="Arial"/>
              </a:rPr>
              <a:t>完整流程Mu,d预测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33375" y="5686425"/>
            <a:ext cx="638032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95959"/>
                </a:solidFill>
                <a:latin typeface="Arial"/>
                <a:ea typeface="Microsoft YaHei"/>
                <a:cs typeface="Arial"/>
              </a:rPr>
              <a:t>独立验证：15种构造、75个动力样本；独立性基于节点构造分组。</a:t>
            </a:r>
          </a:p>
        </p:txBody>
      </p:sp>
      <p:sp>
        <p:nvSpPr>
          <p:cNvPr id="20" name="Rectangle 20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358140" y="6092190"/>
            <a:ext cx="738823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完整方法在独立节点样本上的动力峰值弯矩预测R²为0.910。</a:t>
            </a:r>
          </a:p>
        </p:txBody>
      </p:sp>
    </p:spTree>
  </p:cSld>
  <p:clrMapOvr>
    <a:masterClrMapping/>
  </p:clrMapOvr>
  <p:transition dur="400"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545125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计算方法适用范围与误差来源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41452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第6章 端板螺栓连接节点抗冲击承载力计算方法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74 / 80</a:t>
            </a:r>
          </a:p>
        </p:txBody>
      </p:sp>
      <p:sp>
        <p:nvSpPr>
          <p:cNvPr id="9" name="Rectangle 9"/>
          <p:cNvSpPr/>
          <p:nvPr/>
        </p:nvSpPr>
        <p:spPr>
          <a:xfrm>
            <a:off x="247650" y="876300"/>
            <a:ext cx="2476500" cy="733425"/>
          </a:xfrm>
          <a:prstGeom prst="rect">
            <a:avLst/>
          </a:prstGeom>
          <a:solidFill>
            <a:srgbClr val="B6282D"/>
          </a:solidFill>
          <a:ln w="9525">
            <a:solidFill>
              <a:srgbClr val="D9D9D9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21945" y="97440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适用变量</a:t>
            </a:r>
          </a:p>
        </p:txBody>
      </p:sp>
      <p:sp>
        <p:nvSpPr>
          <p:cNvPr id="11" name="Rectangle 11"/>
          <p:cNvSpPr/>
          <p:nvPr/>
        </p:nvSpPr>
        <p:spPr>
          <a:xfrm>
            <a:off x="2724150" y="876300"/>
            <a:ext cx="3819525" cy="733425"/>
          </a:xfrm>
          <a:prstGeom prst="rect">
            <a:avLst/>
          </a:prstGeom>
          <a:solidFill>
            <a:srgbClr val="B6282D"/>
          </a:solidFill>
          <a:ln w="9525">
            <a:solidFill>
              <a:srgbClr val="D9D9D9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2798445" y="974408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本章研究范围</a:t>
            </a:r>
          </a:p>
        </p:txBody>
      </p:sp>
      <p:sp>
        <p:nvSpPr>
          <p:cNvPr id="13" name="Rectangle 13"/>
          <p:cNvSpPr/>
          <p:nvPr/>
        </p:nvSpPr>
        <p:spPr>
          <a:xfrm>
            <a:off x="247650" y="1609725"/>
            <a:ext cx="2476500" cy="733425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1945" y="1707832"/>
            <a:ext cx="10058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端板厚度</a:t>
            </a:r>
          </a:p>
        </p:txBody>
      </p:sp>
      <p:sp>
        <p:nvSpPr>
          <p:cNvPr id="15" name="Rectangle 15"/>
          <p:cNvSpPr/>
          <p:nvPr/>
        </p:nvSpPr>
        <p:spPr>
          <a:xfrm>
            <a:off x="2724150" y="1609725"/>
            <a:ext cx="3819525" cy="733425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2798445" y="1707832"/>
            <a:ext cx="94559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5–16 mm</a:t>
            </a:r>
          </a:p>
        </p:txBody>
      </p:sp>
      <p:sp>
        <p:nvSpPr>
          <p:cNvPr id="17" name="Rectangle 17"/>
          <p:cNvSpPr/>
          <p:nvPr/>
        </p:nvSpPr>
        <p:spPr>
          <a:xfrm>
            <a:off x="247650" y="2343150"/>
            <a:ext cx="2476500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321945" y="2441258"/>
            <a:ext cx="10058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螺栓直径</a:t>
            </a:r>
          </a:p>
        </p:txBody>
      </p:sp>
      <p:sp>
        <p:nvSpPr>
          <p:cNvPr id="19" name="Rectangle 19"/>
          <p:cNvSpPr/>
          <p:nvPr/>
        </p:nvSpPr>
        <p:spPr>
          <a:xfrm>
            <a:off x="2724150" y="2343150"/>
            <a:ext cx="3819525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2798445" y="2441258"/>
            <a:ext cx="107813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16–30 mm</a:t>
            </a:r>
          </a:p>
        </p:txBody>
      </p:sp>
      <p:sp>
        <p:nvSpPr>
          <p:cNvPr id="21" name="Rectangle 21"/>
          <p:cNvSpPr/>
          <p:nvPr/>
        </p:nvSpPr>
        <p:spPr>
          <a:xfrm>
            <a:off x="247650" y="3076575"/>
            <a:ext cx="2476500" cy="733425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321945" y="3174682"/>
            <a:ext cx="10058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螺栓强度</a:t>
            </a:r>
          </a:p>
        </p:txBody>
      </p:sp>
      <p:sp>
        <p:nvSpPr>
          <p:cNvPr id="23" name="Rectangle 23"/>
          <p:cNvSpPr/>
          <p:nvPr/>
        </p:nvSpPr>
        <p:spPr>
          <a:xfrm>
            <a:off x="2724150" y="3076575"/>
            <a:ext cx="3819525" cy="733425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2798445" y="317468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800–1200 MPa</a:t>
            </a:r>
          </a:p>
        </p:txBody>
      </p:sp>
      <p:sp>
        <p:nvSpPr>
          <p:cNvPr id="25" name="Rectangle 25"/>
          <p:cNvSpPr/>
          <p:nvPr/>
        </p:nvSpPr>
        <p:spPr>
          <a:xfrm>
            <a:off x="247650" y="3810000"/>
            <a:ext cx="2476500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321945" y="3908108"/>
            <a:ext cx="14878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节点转动速率</a:t>
            </a:r>
          </a:p>
        </p:txBody>
      </p:sp>
      <p:sp>
        <p:nvSpPr>
          <p:cNvPr id="27" name="Rectangle 27"/>
          <p:cNvSpPr/>
          <p:nvPr/>
        </p:nvSpPr>
        <p:spPr>
          <a:xfrm>
            <a:off x="2724150" y="3810000"/>
            <a:ext cx="3819525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2798445" y="3908108"/>
            <a:ext cx="137936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10–50 rad/s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534150" y="876300"/>
            <a:ext cx="5429250" cy="3333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627495" y="936308"/>
            <a:ext cx="23191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误差传递与使用边界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701790" y="1463040"/>
            <a:ext cx="1903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•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911340" y="1463040"/>
            <a:ext cx="534295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边界附近的模式误判会改变所调用的DIFM公式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911340" y="1794510"/>
            <a:ext cx="3086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01790" y="2364105"/>
            <a:ext cx="1903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•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911340" y="2364105"/>
            <a:ext cx="525094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FM1-BR过渡样本应重点检查板–栓竞争关系。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01790" y="2933700"/>
            <a:ext cx="1903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•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911340" y="2933700"/>
            <a:ext cx="552697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FM3缺少有效动力样本，不能据此声称已验证。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701790" y="3503295"/>
            <a:ext cx="1903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•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911340" y="3503295"/>
            <a:ext cx="55664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独立验证来自有限元构造分组，尚需外部试验验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911340" y="3834765"/>
            <a:ext cx="5715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证。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702742" y="5443061"/>
            <a:ext cx="5255116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模式识别误差 → 公式切换 → DIF与承载力偏差</a:t>
            </a:r>
          </a:p>
        </p:txBody>
      </p:sp>
      <p:sp>
        <p:nvSpPr>
          <p:cNvPr id="42" name="Rectangle 42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358140" y="6092190"/>
            <a:ext cx="80507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模式边界附近的识别误差，是完整计算流程不确定性的重要来源。</a:t>
            </a:r>
          </a:p>
        </p:txBody>
      </p:sp>
    </p:spTree>
  </p:cSld>
  <p:clrMapOvr>
    <a:masterClrMapping/>
  </p:clrMapOvr>
  <p:transition dur="400"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5568" cy="6858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394835" y="532448"/>
            <a:ext cx="537336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98745" y="598170"/>
            <a:ext cx="79705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绪论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94835" y="143732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98745" y="1503045"/>
            <a:ext cx="6520167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Q355钢应变依赖动力增大系数(SD-DIF)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94835" y="234219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98745" y="2407920"/>
            <a:ext cx="602330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Q355钢耦合动态断裂模型CD-LMVGM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94835" y="324707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98745" y="3312795"/>
            <a:ext cx="558165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钢框架梁柱节点动力冲击试验研究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94835" y="415194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98745" y="4217670"/>
            <a:ext cx="484555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钢框架梁柱节点动态响应机理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94835" y="5056822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98745" y="5122545"/>
            <a:ext cx="668578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6A6A6"/>
                </a:solidFill>
                <a:latin typeface="Arial"/>
                <a:ea typeface="Microsoft YaHei"/>
                <a:cs typeface="Arial"/>
              </a:rPr>
              <a:t>端板螺栓连接节点抗冲击承载力计算方法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94835" y="5961698"/>
            <a:ext cx="66960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B6282D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98745" y="6027420"/>
            <a:ext cx="190119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B6282D"/>
                </a:solidFill>
                <a:latin typeface="Arial"/>
                <a:ea typeface="Microsoft YaHei"/>
                <a:cs typeface="Arial"/>
              </a:rPr>
              <a:t>结论与展望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76219" y="6597968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595959"/>
                </a:solidFill>
                <a:latin typeface="Arial"/>
                <a:ea typeface="Microsoft YaHei"/>
                <a:cs typeface="Arial"/>
              </a:rPr>
              <a:t>75 / 80</a:t>
            </a:r>
          </a:p>
        </p:txBody>
      </p:sp>
    </p:spTree>
  </p:cSld>
  <p:clrMapOvr>
    <a:masterClrMapping/>
  </p:clrMapOvr>
  <p:transition dur="400"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主要研究成果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15820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第7章 结论与展望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76 / 80</a:t>
            </a:r>
          </a:p>
        </p:txBody>
      </p:sp>
      <p:sp>
        <p:nvSpPr>
          <p:cNvPr id="9" name="Rectangle 9"/>
          <p:cNvSpPr/>
          <p:nvPr/>
        </p:nvSpPr>
        <p:spPr>
          <a:xfrm>
            <a:off x="190500" y="819150"/>
            <a:ext cx="5772150" cy="3333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83845" y="879158"/>
            <a:ext cx="206616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材料动态本构模型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181725" y="819150"/>
            <a:ext cx="5810250" cy="3333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6275070" y="879158"/>
            <a:ext cx="25722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材料耦合动态断裂模型</a:t>
            </a:r>
          </a:p>
        </p:txBody>
      </p:sp>
      <p:pic>
        <p:nvPicPr>
          <p:cNvPr id="13" name="Imag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700" y="1266825"/>
            <a:ext cx="2504122" cy="2152650"/>
          </a:xfrm>
          <a:prstGeom prst="rect">
            <a:avLst/>
          </a:prstGeom>
        </p:spPr>
      </p:pic>
      <p:pic>
        <p:nvPicPr>
          <p:cNvPr id="14" name="Imag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4675" y="1266825"/>
            <a:ext cx="4314825" cy="215265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331470" y="3584258"/>
            <a:ext cx="17445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•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1020" y="3584258"/>
            <a:ext cx="57531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三参数SD-DIF描述动态强化随塑性应变的发展，较C-S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1020" y="3888105"/>
            <a:ext cx="401812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、J-C模型预测精度提高约24%–62%。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31470" y="4306252"/>
            <a:ext cx="17445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•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41020" y="4306252"/>
            <a:ext cx="598212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多钢种屈服、极限及平均DIF预测RMSE分别为5.60%、4.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41020" y="4610100"/>
            <a:ext cx="158419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38%、4.70%。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31470" y="5028248"/>
            <a:ext cx="17445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•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41020" y="5028248"/>
            <a:ext cx="582549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微观上表现为位错增殖、晶粒演化与织构强化的竞争和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1020" y="5332095"/>
            <a:ext cx="7648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协同。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322695" y="3584258"/>
            <a:ext cx="17445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•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32245" y="3584258"/>
            <a:ext cx="582549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拉伸主导与剪切主导状态分别呈正、负应变率效应，断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32245" y="3888105"/>
            <a:ext cx="269271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裂延性受应力状态调节。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322695" y="4306252"/>
            <a:ext cx="17445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•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532245" y="4306252"/>
            <a:ext cx="629540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六参数CD-LMVGM结合LMVGM与耦合DFFS项，Q355钢RMSE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532245" y="4610100"/>
            <a:ext cx="118657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为7.45%。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322695" y="5028248"/>
            <a:ext cx="17445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•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32245" y="5028248"/>
            <a:ext cx="59580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六材料平均RMSE为6.77%，正文方差0.55‰；经典J-C分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32245" y="5332095"/>
            <a:ext cx="221075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别为14.9%、5.18‰。</a:t>
            </a:r>
          </a:p>
        </p:txBody>
      </p:sp>
      <p:sp>
        <p:nvSpPr>
          <p:cNvPr id="33" name="Rectangle 33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358140" y="6092190"/>
            <a:ext cx="1053503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材料研究将宏观动力响应与微观机制联系起来，为节点动力分析提供本构与断裂输入。</a:t>
            </a:r>
          </a:p>
        </p:txBody>
      </p:sp>
    </p:spTree>
  </p:cSld>
  <p:clrMapOvr>
    <a:masterClrMapping/>
  </p:clrMapOvr>
  <p:transition dur="400"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主要研究成果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15820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第7章 结论与展望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77 / 80</a:t>
            </a:r>
          </a:p>
        </p:txBody>
      </p:sp>
      <p:sp>
        <p:nvSpPr>
          <p:cNvPr id="9" name="Rectangle 9"/>
          <p:cNvSpPr/>
          <p:nvPr/>
        </p:nvSpPr>
        <p:spPr>
          <a:xfrm>
            <a:off x="190500" y="819150"/>
            <a:ext cx="3800475" cy="3333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83845" y="87915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节点试验</a:t>
            </a:r>
          </a:p>
        </p:txBody>
      </p:sp>
      <p:pic>
        <p:nvPicPr>
          <p:cNvPr id="11" name="Imag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780222"/>
            <a:ext cx="3609975" cy="1096328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321945" y="3565208"/>
            <a:ext cx="38976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完成端板、角钢及栓焊混合三类节点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21945" y="3869055"/>
            <a:ext cx="38976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的静力与高速冲击试验；以冲击力、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21945" y="4172902"/>
            <a:ext cx="38976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支反力、加速度和位移验证动力平衡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21945" y="4476750"/>
            <a:ext cx="403017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，重构弯矩–转角关系。峰值弯矩相对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21945" y="4780598"/>
            <a:ext cx="352410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各自静力提高约23%、18%、16%。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191000" y="819150"/>
            <a:ext cx="3800475" cy="3333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284345" y="87915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响应机理</a:t>
            </a:r>
          </a:p>
        </p:txBody>
      </p:sp>
      <p:pic>
        <p:nvPicPr>
          <p:cNvPr id="19" name="Imag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0" y="1545908"/>
            <a:ext cx="3609975" cy="156591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4322445" y="3565208"/>
            <a:ext cx="403017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建立并验证三维显式动力模型，采用S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322445" y="3869055"/>
            <a:ext cx="396992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D-DIF和CD-LMVGM。冲击初期材料强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322445" y="4172902"/>
            <a:ext cx="38976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化与局部惯性共同提高瞬时抗力；随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322445" y="4476750"/>
            <a:ext cx="38976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后能量转向塑性耗能、裂纹扩展和残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322445" y="4780598"/>
            <a:ext cx="10058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余运动。</a:t>
            </a:r>
          </a:p>
        </p:txBody>
      </p:sp>
      <p:sp>
        <p:nvSpPr>
          <p:cNvPr id="25" name="Rectangle 25"/>
          <p:cNvSpPr/>
          <p:nvPr/>
        </p:nvSpPr>
        <p:spPr>
          <a:xfrm>
            <a:off x="8191500" y="819150"/>
            <a:ext cx="3800475" cy="3333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284845" y="87915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实用计算</a:t>
            </a:r>
          </a:p>
        </p:txBody>
      </p:sp>
      <p:pic>
        <p:nvPicPr>
          <p:cNvPr id="27" name="Imag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0152" y="1266825"/>
            <a:ext cx="2504122" cy="2124075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8322945" y="3565208"/>
            <a:ext cx="383738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构建77组构造、462个样本数据库；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22945" y="3869055"/>
            <a:ext cx="403017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识别板–栓相对强度与转动速率两个关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22945" y="4172902"/>
            <a:ext cx="38614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键变量。基于4FM提出动力模式判据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22945" y="4476750"/>
            <a:ext cx="388558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及分模式DIF公式；独立模式准确率9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22945" y="4780598"/>
            <a:ext cx="322287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3.3%，Mu,d预测R²为0.910。</a:t>
            </a:r>
          </a:p>
        </p:txBody>
      </p:sp>
      <p:sp>
        <p:nvSpPr>
          <p:cNvPr id="33" name="Rectangle 33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358140" y="6092190"/>
            <a:ext cx="943089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节点试验、机理分析与分模式计算共同形成由材料到连接承载力的研究链条。</a:t>
            </a:r>
          </a:p>
        </p:txBody>
      </p:sp>
    </p:spTree>
  </p:cSld>
  <p:clrMapOvr>
    <a:masterClrMapping/>
  </p:clrMapOvr>
  <p:transition dur="400">
    <p:fad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研究不足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15820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第7章 结论与展望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78 / 80</a:t>
            </a:r>
          </a:p>
        </p:txBody>
      </p:sp>
      <p:sp>
        <p:nvSpPr>
          <p:cNvPr id="9" name="Rectangle 9"/>
          <p:cNvSpPr/>
          <p:nvPr/>
        </p:nvSpPr>
        <p:spPr>
          <a:xfrm>
            <a:off x="190500" y="809625"/>
            <a:ext cx="5791200" cy="3333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83845" y="869632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材料与组件</a:t>
            </a:r>
          </a:p>
        </p:txBody>
      </p:sp>
      <p:pic>
        <p:nvPicPr>
          <p:cNvPr id="11" name="Imag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" y="1951672"/>
            <a:ext cx="1714500" cy="50673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084070" y="1345882"/>
            <a:ext cx="4235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模型主要基于Q355钢母材，高强螺栓、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84070" y="1649730"/>
            <a:ext cx="41386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焊缝、热影响区及其他强度等级材料仍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84070" y="1953578"/>
            <a:ext cx="172878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需更充分研究。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191250" y="809625"/>
            <a:ext cx="5791200" cy="3333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284595" y="869632"/>
            <a:ext cx="181313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试验工况与边界</a:t>
            </a:r>
          </a:p>
        </p:txBody>
      </p:sp>
      <p:pic>
        <p:nvPicPr>
          <p:cNvPr id="17" name="Imag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841182"/>
            <a:ext cx="1714500" cy="726758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8084820" y="1345882"/>
            <a:ext cx="41386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冲击质量、速度、边界与子结构形式覆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84820" y="1649730"/>
            <a:ext cx="41386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盖有限；柱轴力、楼板组合效应、空间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84820" y="1953578"/>
            <a:ext cx="341566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约束和多种冲击输入尚需补充。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190500" y="3390900"/>
            <a:ext cx="5791200" cy="3333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283845" y="3450908"/>
            <a:ext cx="206616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数据库与适用范围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650" y="4098608"/>
            <a:ext cx="1714500" cy="137541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2084070" y="3927158"/>
            <a:ext cx="424705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现有范围为端板5–16mm、螺栓M16–M30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084070" y="4231005"/>
            <a:ext cx="415066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、强度800–1200MPa、转动速率10–50r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084070" y="4534852"/>
            <a:ext cx="418680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ad/s；母材强度、端板尺寸及节点尺度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84070" y="4838700"/>
            <a:ext cx="172878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变化仍需验证。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3390900"/>
            <a:ext cx="5791200" cy="3333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284595" y="3450908"/>
            <a:ext cx="23191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多类节点与整体体系</a:t>
            </a:r>
          </a:p>
        </p:txBody>
      </p:sp>
      <p:pic>
        <p:nvPicPr>
          <p:cNvPr id="30" name="Image 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4414838"/>
            <a:ext cx="1714500" cy="743902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8084820" y="3927158"/>
            <a:ext cx="41386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计算方法主要针对端板节点，尚未覆盖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084820" y="4231005"/>
            <a:ext cx="41386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角钢、栓焊混合节点及整体钢框架抗冲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084820" y="4534852"/>
            <a:ext cx="10058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击评价。</a:t>
            </a:r>
          </a:p>
        </p:txBody>
      </p:sp>
      <p:sp>
        <p:nvSpPr>
          <p:cNvPr id="34" name="Rectangle 34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58140" y="6092190"/>
            <a:ext cx="943089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研究结论受材料、连接类型与加载范围约束，边界样本与复杂工况仍需补充。</a:t>
            </a:r>
          </a:p>
        </p:txBody>
      </p:sp>
    </p:spTree>
  </p:cSld>
  <p:clrMapOvr>
    <a:masterClrMapping/>
  </p:clrMapOvr>
  <p:transition dur="400">
    <p:fad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27635" y="118110"/>
            <a:ext cx="89668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展望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30" y="66675"/>
            <a:ext cx="3234690" cy="4667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152400" y="590550"/>
            <a:ext cx="11887200" cy="285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305" y="6626542"/>
            <a:ext cx="15820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第7章 结论与展望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5269" y="6626542"/>
            <a:ext cx="69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79 / 80</a:t>
            </a:r>
          </a:p>
        </p:txBody>
      </p:sp>
      <p:sp>
        <p:nvSpPr>
          <p:cNvPr id="9" name="Rectangle 9"/>
          <p:cNvSpPr/>
          <p:nvPr/>
        </p:nvSpPr>
        <p:spPr>
          <a:xfrm>
            <a:off x="190500" y="809625"/>
            <a:ext cx="5791200" cy="3333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83845" y="869632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材料与组件</a:t>
            </a:r>
          </a:p>
        </p:txBody>
      </p:sp>
      <p:pic>
        <p:nvPicPr>
          <p:cNvPr id="11" name="Imag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" y="1951672"/>
            <a:ext cx="1714500" cy="50673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084070" y="1345882"/>
            <a:ext cx="41386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开展螺栓、焊缝、热影响区及不同强度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84070" y="1649730"/>
            <a:ext cx="41386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等级钢材的宽应变率试验，建立关键组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84070" y="1953578"/>
            <a:ext cx="269271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件动态本构与断裂模型。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191250" y="809625"/>
            <a:ext cx="5791200" cy="3333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284595" y="869632"/>
            <a:ext cx="181313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试验工况与边界</a:t>
            </a:r>
          </a:p>
        </p:txBody>
      </p:sp>
      <p:pic>
        <p:nvPicPr>
          <p:cNvPr id="17" name="Imag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841182"/>
            <a:ext cx="1714500" cy="726758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8084820" y="1345882"/>
            <a:ext cx="41386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拓展冲击质量、速度、位置、柱轴力、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84820" y="1649730"/>
            <a:ext cx="41386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楼板和空间约束条件，明确冲击速度、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84820" y="1953578"/>
            <a:ext cx="41386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节点转动速率与局部应变率之间的关联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084820" y="2257425"/>
            <a:ext cx="28289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。</a:t>
            </a:r>
          </a:p>
        </p:txBody>
      </p:sp>
      <p:sp>
        <p:nvSpPr>
          <p:cNvPr id="22" name="Rectangle 22"/>
          <p:cNvSpPr/>
          <p:nvPr/>
        </p:nvSpPr>
        <p:spPr>
          <a:xfrm>
            <a:off x="190500" y="3390900"/>
            <a:ext cx="5791200" cy="3333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283845" y="3450908"/>
            <a:ext cx="206616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数据库与适用范围</a:t>
            </a:r>
          </a:p>
        </p:txBody>
      </p:sp>
      <p:pic>
        <p:nvPicPr>
          <p:cNvPr id="24" name="Imag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650" y="4098608"/>
            <a:ext cx="1714500" cy="137541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2084070" y="3927158"/>
            <a:ext cx="41386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增加构造、材料、尺度与速率样本，修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084070" y="4231005"/>
            <a:ext cx="4235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正模式边界与DIF公式，并补充外部试验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84070" y="4534852"/>
            <a:ext cx="317468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验证，提高方法的泛化能力。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3390900"/>
            <a:ext cx="5791200" cy="333375"/>
          </a:xfrm>
          <a:prstGeom prst="rect">
            <a:avLst/>
          </a:prstGeom>
          <a:solidFill>
            <a:srgbClr val="B6282D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284595" y="3450908"/>
            <a:ext cx="23191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多类节点与整体体系</a:t>
            </a:r>
          </a:p>
        </p:txBody>
      </p:sp>
      <p:pic>
        <p:nvPicPr>
          <p:cNvPr id="30" name="Image 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4414838"/>
            <a:ext cx="1714500" cy="743902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8084820" y="3927158"/>
            <a:ext cx="41386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将端板节点框架拓展到角钢与栓焊混合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084820" y="4231005"/>
            <a:ext cx="41386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连接，建立多类节点及整体框架抗冲击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084820" y="4534852"/>
            <a:ext cx="317468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设计方法，服务性能化设计。</a:t>
            </a:r>
          </a:p>
        </p:txBody>
      </p:sp>
      <p:sp>
        <p:nvSpPr>
          <p:cNvPr id="34" name="Rectangle 34"/>
          <p:cNvSpPr/>
          <p:nvPr/>
        </p:nvSpPr>
        <p:spPr>
          <a:xfrm>
            <a:off x="190500" y="6029325"/>
            <a:ext cx="118110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58140" y="6092190"/>
            <a:ext cx="943089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后续应扩展试验数据库、复杂荷载路径和构件尺度验证，完善工程适用边界。</a:t>
            </a:r>
          </a:p>
        </p:txBody>
      </p:sp>
    </p:spTree>
  </p:cSld>
  <p:clrMapOvr>
    <a:masterClrMapping/>
  </p:clrMapOvr>
  <p:transition dur="400">
    <p:fade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270742" y="2653665"/>
            <a:ext cx="5650516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感谢各位专家的宝贵时间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870793" y="3268028"/>
            <a:ext cx="4450413" cy="82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恳请批评指正！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